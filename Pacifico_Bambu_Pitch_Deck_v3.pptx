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The Green Revolution</a:t>
            </a:r>
            <a:br/>
            <a:r>
              <a:t>in Oaxaca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88920" y="73152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2DD4A8"/>
                </a:solidFill>
                <a:latin typeface="Calibri"/>
              </a:defRPr>
            </a:pPr>
            <a:r>
              <a:t>Green Revolution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OUR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To become Mexico's first vertically integrated bamboo exporter —</a:t>
            </a:r>
            <a:br/>
            <a:r>
              <a:t>from plantation to the US construction market.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3200400" cy="13716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572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5-Year Head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9377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10 hectares fully planted since 2021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4389120"/>
            <a:ext cx="3200400" cy="13716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4572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High Barriers to Entry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49377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5-7 year growth cycle = permanent moat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4389120"/>
            <a:ext cx="3200400" cy="13716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0" y="4572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Strategic 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49377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Hours from Mexico's newest Pacific 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WHY BAMBOO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World's Most Renewable</a:t>
            </a:r>
            <a:br/>
            <a:r>
              <a:t>Construction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Not wood. Not plastic. A biological manufacturing platform that renews itself every year.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91 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Daily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Fastest-growing plant on Earth.</a:t>
            </a:r>
            <a:br/>
            <a:r>
              <a:t>Harvestable in 5 years,</a:t>
            </a:r>
            <a:br/>
            <a:r>
              <a:t>produces for 50+.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2×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Stronger Than Oak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Guadua angustifolia: higher</a:t>
            </a:r>
            <a:br/>
            <a:r>
              <a:t>tensile strength than steel</a:t>
            </a:r>
            <a:br/>
            <a:r>
              <a:t>by weight. The 'vegetal steel.'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12t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CO₂ / Hectare /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Bamboo sequesters 2× more</a:t>
            </a:r>
            <a:br/>
            <a:r>
              <a:t>carbon than tropical forest.</a:t>
            </a:r>
            <a:br/>
            <a:r>
              <a:t>Carbon-negative material.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799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19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Replanting Needed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19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Harvest annually without</a:t>
            </a:r>
            <a:br/>
            <a:r>
              <a:t>replanting. The root system</a:t>
            </a:r>
            <a:br/>
            <a:r>
              <a:t>regenerates indefinitely.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20640"/>
            <a:ext cx="10698480" cy="7315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21208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Key insight: Bamboo is not agriculture — it's a perpetual asset that appreciates with time. Plant once, harvest forever.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 Massive, Growing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Global demand for engineered bamboo is growing 15-20% annually — supply can't keep up.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$74.5B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Global Bamboo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661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2026 projection. CAGR 5.6%.</a:t>
            </a:r>
            <a:br/>
            <a:r>
              <a:t>Construction is the fastest-</a:t>
            </a:r>
            <a:br/>
            <a:r>
              <a:t>growing segment.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TOTAL ADDRESSABLE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651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$10-12B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 Engineered Bamboo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5661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Currently sourced almost</a:t>
            </a:r>
            <a:br/>
            <a:r>
              <a:t>exclusively from China and</a:t>
            </a:r>
            <a:br/>
            <a:r>
              <a:t>Vietnam. US buyers actively</a:t>
            </a:r>
            <a:br/>
            <a:r>
              <a:t>seeking alternatives.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SERVICEABLE 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651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Mexican Structural Exports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5661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Zero Mexican companies</a:t>
            </a:r>
            <a:br/>
            <a:r>
              <a:t>export domestically-grown</a:t>
            </a:r>
            <a:br/>
            <a:r>
              <a:t>structural bamboo to the US.</a:t>
            </a:r>
            <a:br/>
            <a:r>
              <a:t>The channel is completely</a:t>
            </a:r>
            <a:br/>
            <a:r>
              <a:t>unbuilt.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WHITE SPACE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4360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Sources: Fortune Business Insights, UN Comtrade, Mexico DATAMEXICO trade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Interoceanic Corridor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Mexico's $6-7B Panama Canal bypass puts us hours from the world's newest Pacific 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Three Convergences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0175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USMCA Nearshoring Boom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291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US-China decoupling creating massive demand for Mexican supply chains. Duty-free access to US market.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069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Panama Canal in Crisis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2023-24 drought cut transits 40%. Wait times 10-21+ days. Ships paying $1-4M for priority passage.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1206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Salina Cruz Port Expansion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394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Mexico investing MXN 120B in the Interoceanic Corridor. New container terminal, 1.4M TEU capacity target.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37744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2560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Our Logistics Advantage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Plantation → Salina Cruz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~150 km · 3-5 hrs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11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Salina Cruz → US West Coast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611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4-6 days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Rail to Gulf → Houston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114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3-5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617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vs. Asia via Panama Canal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06E6E"/>
                </a:solidFill>
                <a:latin typeface="Calibri"/>
              </a:defRPr>
            </a:pPr>
            <a:r>
              <a:t>2-3 weeks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0" y="5303520"/>
            <a:ext cx="4480560" cy="7315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5349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Corredor Interoceánico del Istmo de Tehuantepec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6235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9999"/>
                </a:solidFill>
                <a:latin typeface="Calibri"/>
              </a:defRPr>
            </a:pPr>
            <a:r>
              <a:t>303 km rail · Salina Cruz (Pacific) ↔ Coatzacoalcos (Gulf) · 10 Industrial Poles with tax incentives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ZERO WASTE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No Loss in Bamboo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We target construction (highest value) — but every part of the plant has a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PRIMARY 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2DD4A8"/>
                </a:solidFill>
                <a:latin typeface="Calibri"/>
              </a:defRPr>
            </a:pPr>
            <a:r>
              <a:t>400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29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MXN / pole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4048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Structural Premium — Treated Guadua poles for high-end construction. Hotels, villas, eco-luxury projects. Our core product and highest margin.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502920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4A30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0292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D4A8"/>
                </a:solidFill>
                <a:latin typeface="Calibri"/>
              </a:defRPr>
            </a:pPr>
            <a:r>
              <a:t>Highest margin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514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66666"/>
                </a:solidFill>
                <a:latin typeface="Calibri"/>
              </a:defRPr>
            </a:pPr>
            <a:r>
              <a:t>INDUSTRIAL BAMBOO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Booming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91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99999"/>
                </a:solidFill>
                <a:latin typeface="Calibri"/>
              </a:defRPr>
            </a:pPr>
            <a:r>
              <a:t>Market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49039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Straight sticks → furniture, panels, flooring, fencing. The industrial bamboo market is exploding globally. Every culm has value regardless of grade.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502920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50292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99999"/>
                </a:solidFill>
                <a:latin typeface="Calibri"/>
              </a:defRPr>
            </a:pPr>
            <a:r>
              <a:t>Growing 15-20% annually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514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66666"/>
                </a:solidFill>
                <a:latin typeface="Calibri"/>
              </a:defRPr>
            </a:pPr>
            <a:r>
              <a:t>ADDITIONAL STREAMS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Every Part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99999"/>
                </a:solidFill>
                <a:latin typeface="Calibri"/>
              </a:defRPr>
            </a:pPr>
            <a:r>
              <a:t>Monetized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749039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Carbon credits (~$21 USD/ha/yr)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005071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Nursery sales (seedlings)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261103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Charcoal &amp; biochar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517135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Bamboo fiber &amp; textiles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773167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Shoots (food industry)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760720"/>
            <a:ext cx="10698480" cy="6400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806440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Calibri"/>
              </a:defRPr>
            </a:pPr>
            <a:r>
              <a:t>Downside protection: Even in our most conservative scenario, bamboo that doesn't meet structural grade still sells into industrial markets at strong margins.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No Reliable Supply Chain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US bamboo manufacturers depend on fragmented, uncertified, unreliable supply — mostly from Asia.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517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Fragmented Supply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06324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Mexican producers are small collectives (under 20 ha each). No single supplier can guarantee volume, consistency, or quality.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6888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651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6517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 Vertical Integration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306324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Nobody controls growing + treatment + distribution. Growers sell raw, untreated poles. Builders source randomly.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5720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Zero Export Certification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98348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No Mexican producer has ICC-ES or ASTM certification. The US market door is closed without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38912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572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5720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Asia Dependence =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98348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US builders source from China/Vietnam. 30-45 day shipping, tariff uncertainty, ESG concerns. They want nearshore alternatives.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Mexico's Bamboo Industry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Mostly collectives and micro-companies. Nobody controls the full chain.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Current Players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Guadua Selecto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Chiapas · Grows + sells Guadua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971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90 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204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Bambuver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947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Veracruz · Nursery + tourism + education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Not export-focused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062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51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Grupo Puebla Bambu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805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Puebla · Cooperative cluster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343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Fragmented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8920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Bambuterra / Qincha / Todo de Bambu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1663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Design studios · Don't grow bamboo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029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2DD4A8"/>
                </a:solidFill>
                <a:latin typeface="Calibri"/>
              </a:defRPr>
            </a:pPr>
            <a:r>
              <a:t>Our customers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77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What They're Missing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834640"/>
            <a:ext cx="5029200" cy="27432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3017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Full value chain control (grow → process → sell)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383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Export certifications (ICC-ES / ASTM)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749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Scale for export (100+ ha minimum)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114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US market access or buyer relationships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526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✓  Pacífico Bambu is building all of this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5760720"/>
            <a:ext cx="5029200" cy="6400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58064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Phase 2 strategy: Once we control the value chain, we sell seedlings to local farmers and buy back — creating a supply network we manage.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Vertical Integration at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Grow premium Guadua → treat on-site → sell direct. Control quality, pricing, and the entire value chain.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GROW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110 ha Guadua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HARVEST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50 ha own + 60 leased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TREAT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Per-10ha pools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7804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DRY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Bodega network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SELL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400+ MXN (low-end)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474720"/>
            <a:ext cx="5029200" cy="29260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11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Planting Roadmap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023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2021 (done)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4023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10 ha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4023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Established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 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3360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Clear &amp; prep 20 ha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+15 ha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First planting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5120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5120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+15 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23360" y="5120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Scale own land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+10 ha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2336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Complete own (50 ha)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2030-2031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6888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+60 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2336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LEASED from neighbors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217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2032+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8880" y="6217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110 ha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360" y="6217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Full operation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0" y="3474720"/>
            <a:ext cx="5029200" cy="29260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0" y="3611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Key Advantages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40233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402336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40-year land lease + lease-and-replicate model with neighbors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0" y="46177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40880" y="46177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Own seedling propagation from 2029 — cost drops from 35 → 10 MXN (71% reduction)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40880" y="521208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On-site treatment — boric acid/borax cold soak, 10 pools, 30 poles/batch × 7 days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75120" y="5806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58064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USMCA duty-free — Mexican-grown bamboo enters US without tariffs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PROOF OF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We Have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We've already cleared the highest-risk phase. 5 years of biological establishment — complete.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DD4A8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Hectares Planted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Since April 2, 2021. 2,000 plants</a:t>
            </a:r>
            <a:br/>
            <a:r>
              <a:t>thriving. Guadua + Oldhamii + Gigante.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377440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514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DD4A8"/>
                </a:solidFill>
                <a:latin typeface="Calibri"/>
              </a:defRPr>
            </a:pPr>
            <a:r>
              <a:t>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Active Hectares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50 ha own + 60 ha leased.</a:t>
            </a:r>
            <a:br/>
            <a:r>
              <a:t>Replicable to 200+ ha.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2377440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514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DD4A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Years Established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4747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Past the biological risk phase.</a:t>
            </a:r>
            <a:br/>
            <a:r>
              <a:t>Ready for first commercial harvest.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720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Infrastructure in Place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749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Chevrolet 4×4 truck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50749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Zapotal work yard + storage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49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Potable water system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5349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Road access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2 bathrooms on-site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45720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4709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2026 Milestones (In Progress)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07492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Densify 10 ha (+3,500 seedlings)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Clear 20 ha for 2027 planting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58698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First harvest: ~100 poles pilot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5843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Build first drying bodega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609904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Land title regularization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GROWTH LEVER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Lease-and-Replicate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We don't just operate land — we built a system that scales beyond the 110 ha. A blueprint for 200+ ha and beyond.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D4A8"/>
                </a:solidFill>
                <a:latin typeface="Calibri"/>
              </a:defRPr>
            </a:pPr>
            <a:r>
              <a:t>50 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Pacífico Bambu's own land</a:t>
            </a:r>
            <a:br/>
            <a:r>
              <a:t>(within 190 ha lease)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37744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5146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A5FA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7889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LEASE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246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60A5FA"/>
                </a:solidFill>
                <a:latin typeface="Calibri"/>
              </a:defRPr>
            </a:pPr>
            <a:r>
              <a:t>+60 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886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Neighbors' unused land</a:t>
            </a:r>
            <a:br/>
            <a:r>
              <a:t>10% revenue share after expenses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37744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5146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889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REPLICATE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246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CC15"/>
                </a:solidFill>
                <a:latin typeface="Calibri"/>
              </a:defRPr>
            </a:pPr>
            <a:r>
              <a:t>+100 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886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Other locations across Oaxaca</a:t>
            </a:r>
            <a:br/>
            <a:r>
              <a:t>Proven model, low capital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46320"/>
            <a:ext cx="1069848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937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Why The Replication Model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CAPITAL EFFICIENT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No land purchase needed. Operations only — small CapEx per new site.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WIN-WIN ECONOMICS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Neighbors monetize idle land. We get scale without massive equity raise.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RISK DISTRIBUTED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Multiple locations = climate, pest, and operational risk diversified.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PROVEN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By 2032 we'll have a tested system: workers, pools, bodegas, sales channel.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Built to Execute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Local land expertise + professional bamboo construction + institutional growth capability.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697480"/>
            <a:ext cx="502920" cy="502920"/>
          </a:xfrm>
          <a:prstGeom prst="ellipse">
            <a:avLst/>
          </a:prstGeom>
          <a:solidFill>
            <a:srgbClr val="1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D4A8"/>
                </a:solidFill>
                <a:latin typeface="Calibri"/>
              </a:defRPr>
            </a:pPr>
            <a:r>
              <a:t>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974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Juan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9718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D4A8"/>
                </a:solidFill>
                <a:latin typeface="Calibri"/>
              </a:defRPr>
            </a:pPr>
            <a:r>
              <a:t>Field Operations &amp; Land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8328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Lives in Candelaria. Manages all field operations, workers, planting, harvest, and land preparation. 5 years hands-on bamboo cultivation. Deep local knowledge and community relationships. The land is secured through Juan's 40-year lease.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46888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0" y="2697480"/>
            <a:ext cx="502920" cy="502920"/>
          </a:xfrm>
          <a:prstGeom prst="ellipse">
            <a:avLst/>
          </a:prstGeom>
          <a:solidFill>
            <a:srgbClr val="1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D4A8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6974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Diego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9718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D4A8"/>
                </a:solidFill>
                <a:latin typeface="Calibri"/>
              </a:defRPr>
            </a:pPr>
            <a:r>
              <a:t>Construction, Knowledge &amp; Client Relations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8328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Most experienced team member. Professional bamboo constructor. Builds all structures and treatment infrastructure. Leads treatment protocols, quality control, and client relationships. Manages orders and delivery.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720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4800600"/>
            <a:ext cx="502920" cy="502920"/>
          </a:xfrm>
          <a:prstGeom prst="ellipse">
            <a:avLst/>
          </a:prstGeom>
          <a:solidFill>
            <a:srgbClr val="1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D4A8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006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Ofir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0749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D4A8"/>
                </a:solidFill>
                <a:latin typeface="Calibri"/>
              </a:defRPr>
            </a:pPr>
            <a:r>
              <a:t>Managing Partner &amp; Head of Growth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48640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Strategy, finance, fundraising, investor relations, legal, marketing, branding, and certifications. Leads all business operations, financial modeling, and growth strategy. Executes the bridge-to-export roadmap.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5720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0" y="4800600"/>
            <a:ext cx="502920" cy="502920"/>
          </a:xfrm>
          <a:prstGeom prst="ellipse">
            <a:avLst/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4846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999999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8006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Rick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50749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Founding Capital Partner · First Angel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48640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First angel investor. Cash contributor with 20% equity stake. Skin in the game from day one — demonstrating conviction in the long-term thesis before external investors join.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FINANCIAL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Path to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CONSERVATIVE BASE: 110 ha at maturity, 1,400 poles/ha mature yield, 400 MXN/pole. Options: 1K / 2K / 3K.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7315200" cy="3840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Revenue Growth (MXN)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5552237"/>
            <a:ext cx="548640" cy="25603"/>
          </a:xfrm>
          <a:prstGeom prst="roundRect">
            <a:avLst>
              <a:gd name="adj" fmla="val 15000"/>
            </a:avLst>
          </a:prstGeom>
          <a:solidFill>
            <a:srgbClr val="2D4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323637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34K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5526634"/>
            <a:ext cx="548640" cy="51206"/>
          </a:xfrm>
          <a:prstGeom prst="roundRect">
            <a:avLst>
              <a:gd name="adj" fmla="val 15000"/>
            </a:avLst>
          </a:prstGeom>
          <a:solidFill>
            <a:srgbClr val="2D4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529803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510K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5501031"/>
            <a:ext cx="548640" cy="76809"/>
          </a:xfrm>
          <a:prstGeom prst="roundRect">
            <a:avLst>
              <a:gd name="adj" fmla="val 15000"/>
            </a:avLst>
          </a:prstGeom>
          <a:solidFill>
            <a:srgbClr val="2D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5272431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680K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449824"/>
            <a:ext cx="548640" cy="128016"/>
          </a:xfrm>
          <a:prstGeom prst="roundRect">
            <a:avLst>
              <a:gd name="adj" fmla="val 15000"/>
            </a:avLst>
          </a:prstGeom>
          <a:solidFill>
            <a:srgbClr val="2D4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522122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1M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5424221"/>
            <a:ext cx="548640" cy="153619"/>
          </a:xfrm>
          <a:prstGeom prst="roundRect">
            <a:avLst>
              <a:gd name="adj" fmla="val 15000"/>
            </a:avLst>
          </a:prstGeom>
          <a:solidFill>
            <a:srgbClr val="2D4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5195621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DD4A8"/>
                </a:solidFill>
                <a:latin typeface="Calibri"/>
              </a:defRPr>
            </a:pPr>
            <a:r>
              <a:t>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DD4A8"/>
                </a:solidFill>
                <a:latin typeface="Calibri"/>
              </a:defRPr>
            </a:pPr>
            <a:r>
              <a:t>2030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5116983"/>
            <a:ext cx="548640" cy="460857"/>
          </a:xfrm>
          <a:prstGeom prst="roundRect">
            <a:avLst>
              <a:gd name="adj" fmla="val 15000"/>
            </a:avLst>
          </a:prstGeom>
          <a:solidFill>
            <a:srgbClr val="2D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4888383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4M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4297680"/>
            <a:ext cx="548640" cy="1280160"/>
          </a:xfrm>
          <a:prstGeom prst="roundRect">
            <a:avLst>
              <a:gd name="adj" fmla="val 15000"/>
            </a:avLst>
          </a:prstGeom>
          <a:solidFill>
            <a:srgbClr val="2D8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0" y="40690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15M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3017520"/>
            <a:ext cx="548640" cy="2560320"/>
          </a:xfrm>
          <a:prstGeom prst="roundRect">
            <a:avLst>
              <a:gd name="adj" fmla="val 15000"/>
            </a:avLst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27889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52M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2377440"/>
            <a:ext cx="3200400" cy="25603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0" y="24688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Key Milestones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28803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880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Pilot · 100 poles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32004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32004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Ramp · 1,500 poles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35204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3520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110 ha complete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3840479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384047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Cash-positive cum.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4160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41605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Full @ 1,400/ha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4805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44805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154K poles/year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0" y="5120640"/>
            <a:ext cx="320040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03920" y="516636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CASH-POSITIVE YEAR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5394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2032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5852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First profitable year.</a:t>
            </a:r>
            <a:br/>
            <a:r>
              <a:t>Dividends from 2033+.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SENSITIVITY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Even at conservative yields, the business is profitable. We model what happens if bamboo produces half of our base case.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560320"/>
            <a:ext cx="137160" cy="137160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80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1,000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poles/ha at maturity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10.6M MXN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4297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37M MXN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2034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530352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ACC15"/>
                </a:solidFill>
                <a:latin typeface="Calibri"/>
              </a:defRPr>
            </a:pPr>
            <a:r>
              <a:t>Downside protection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37744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72000" y="2560320"/>
            <a:ext cx="137160" cy="137160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60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BASE CASE 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880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DD4A8"/>
                </a:solidFill>
                <a:latin typeface="Calibri"/>
              </a:defRPr>
            </a:pPr>
            <a:r>
              <a:t>1,400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poles/ha at maturity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15M MXN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297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52M MXN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663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2033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0" y="530352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5303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D4A8"/>
                </a:solidFill>
                <a:latin typeface="Calibri"/>
              </a:defRPr>
            </a:pPr>
            <a:r>
              <a:t>OUR PROJECTION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63840" y="237744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38160" y="2560320"/>
            <a:ext cx="137160" cy="13716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A5FA"/>
                </a:solidFill>
                <a:latin typeface="Calibri"/>
              </a:defRPr>
            </a:pPr>
            <a:r>
              <a:t>OPTIMISTIC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2880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2,000-3,000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poles/ha at maturity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21-32M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4297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73-110M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4663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2031-32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38160" y="530352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38160" y="5303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0A5FA"/>
                </a:solidFill>
                <a:latin typeface="Calibri"/>
              </a:defRPr>
            </a:pPr>
            <a:r>
              <a:t>Possible upside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CONSERVATIVE BASE: 1,400 poles/ha (not 2,000). Key assumptions: 400 MXN/pole · 15% waste · 110 ha (50 own + 60 leased). Only yield varies.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INVESTMENT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20% equity reserved for investors. First tranche at the highest-risk early valuation.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303520" cy="40233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BRIDGE ROUND — NOW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4,000,000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83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99999"/>
                </a:solidFill>
                <a:latin typeface="Calibri"/>
              </a:defRPr>
            </a:pPr>
            <a:r>
              <a:t>MXN for 14% equity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4903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Pre-money: ~24.5M MXN · Post-money: ~28.5M MXN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1148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Use of Funds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8056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4-year runway: ops to end-2029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48056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45%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663440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5840" y="4663440"/>
            <a:ext cx="1975104" cy="109728"/>
          </a:xfrm>
          <a:prstGeom prst="roundRect">
            <a:avLst>
              <a:gd name="adj" fmla="val 50000"/>
            </a:avLst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Land prep + planting 50 own 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86460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25%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047488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05840" y="5047488"/>
            <a:ext cx="1097280" cy="109728"/>
          </a:xfrm>
          <a:prstGeom prst="roundRect">
            <a:avLst>
              <a:gd name="adj" fmla="val 50000"/>
            </a:avLst>
          </a:prstGeom>
          <a:solidFill>
            <a:srgbClr val="2DA9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24865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Mgmt salaries (start 2027)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2486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20%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431536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431536"/>
            <a:ext cx="877824" cy="109728"/>
          </a:xfrm>
          <a:prstGeom prst="roundRect">
            <a:avLst>
              <a:gd name="adj" fmla="val 50000"/>
            </a:avLst>
          </a:prstGeom>
          <a:solidFill>
            <a:srgbClr val="2D7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32704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Bodegas, pools,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563270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5815584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" y="5815584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2D54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0" y="2377440"/>
            <a:ext cx="484632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51460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Equity Allocation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9260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Founding partners (3)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26880" y="2926080"/>
            <a:ext cx="2194560" cy="182880"/>
          </a:xfrm>
          <a:prstGeom prst="roundRect">
            <a:avLst>
              <a:gd name="adj" fmla="val 50000"/>
            </a:avLst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12880" y="29077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33832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Investors total (R1+R2)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26880" y="3383280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0" y="33649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38404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Managing Partner (vested)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26880" y="3840480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0" y="38221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2976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Strategic reserve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26880" y="429768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01200" y="42793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42062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Bridge investor takes 14% — the largest piece. Funds 2026-2029 operations completely. Round 2 (Seed) closes 2028 at significantly higher valuation.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0" y="4846320"/>
            <a:ext cx="4846320" cy="1554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Why This Valuation Is 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530352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You're entering before the risk phase is resolved. Once we prove production at scale and begin US export certification, the next round will reflect a fundamentally different risk profile — and a much higher valuation.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0" y="5943600"/>
            <a:ext cx="4297680" cy="3200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0" y="59436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Early entry = highest return potential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FUTURE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Round 2: The Seed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Smaller, lower-risk round in 2028 — funds the path to break-even at higher valuation.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303520" cy="38404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ROUND 2 — SEED (Q3 2028)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2,500,000 MXN for ~6%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8404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404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Funds 2030-2032 operations until break-even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2519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519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Lower risk: 2 years of production data + leased land model proven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63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663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Pre-money: ~39M MXN — significant uplift from Round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0749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Profile: Agri-fund, Family Office, Impact Investor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377440"/>
            <a:ext cx="4846320" cy="21031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251460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Why Wait for the Next Round?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260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9260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Round 1 funds 4 full years (2026-2029) — no rush for Round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4290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4290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By 2028 we have 1.02M MXN revenue + 25 ha producing — proven traction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319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9319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Smaller raise = less dilution; founders keep more equity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4663440"/>
            <a:ext cx="4846320" cy="1554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480060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Valuation Trajectory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166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Round 1 (2026)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51663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28.5M MXN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486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Round 2 (2028)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DD4A8"/>
                </a:solidFill>
                <a:latin typeface="Calibri"/>
              </a:defRPr>
            </a:pPr>
            <a:r>
              <a:t>~41.5M MXN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0" y="5852160"/>
            <a:ext cx="4297680" cy="2743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585216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DD4A8"/>
                </a:solidFill>
                <a:latin typeface="Calibri"/>
              </a:defRPr>
            </a:pPr>
            <a:r>
              <a:t>Round 1 enters at lowest valuation = highest upside potential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MILESTONE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De-Risk, Then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Every milestone is verifiable. Money deploys against proven gates, not promises.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0698480" cy="73152"/>
          </a:xfrm>
          <a:prstGeom prst="roundRect">
            <a:avLst/>
          </a:prstGeom>
          <a:solidFill>
            <a:srgbClr val="1A4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2304288"/>
            <a:ext cx="201168" cy="201168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8" name="Oval 7"/>
          <p:cNvSpPr/>
          <p:nvPr/>
        </p:nvSpPr>
        <p:spPr>
          <a:xfrm>
            <a:off x="2370124" y="2304288"/>
            <a:ext cx="201168" cy="201168"/>
          </a:xfrm>
          <a:prstGeom prst="ellipse">
            <a:avLst/>
          </a:prstGeom>
          <a:solidFill>
            <a:srgbClr val="2DB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77516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10" name="Oval 9"/>
          <p:cNvSpPr/>
          <p:nvPr/>
        </p:nvSpPr>
        <p:spPr>
          <a:xfrm>
            <a:off x="4188866" y="2304288"/>
            <a:ext cx="201168" cy="201168"/>
          </a:xfrm>
          <a:prstGeom prst="ellipse">
            <a:avLst/>
          </a:prstGeom>
          <a:solidFill>
            <a:srgbClr val="2D9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96258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2028</a:t>
            </a:r>
          </a:p>
        </p:txBody>
      </p:sp>
      <p:sp>
        <p:nvSpPr>
          <p:cNvPr id="12" name="Oval 11"/>
          <p:cNvSpPr/>
          <p:nvPr/>
        </p:nvSpPr>
        <p:spPr>
          <a:xfrm>
            <a:off x="6007608" y="2304288"/>
            <a:ext cx="201168" cy="201168"/>
          </a:xfrm>
          <a:prstGeom prst="ellipse">
            <a:avLst/>
          </a:prstGeom>
          <a:solidFill>
            <a:srgbClr val="2D7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2030</a:t>
            </a:r>
          </a:p>
        </p:txBody>
      </p:sp>
      <p:sp>
        <p:nvSpPr>
          <p:cNvPr id="14" name="Oval 13"/>
          <p:cNvSpPr/>
          <p:nvPr/>
        </p:nvSpPr>
        <p:spPr>
          <a:xfrm>
            <a:off x="7719364" y="2304288"/>
            <a:ext cx="201168" cy="201168"/>
          </a:xfrm>
          <a:prstGeom prst="ellipse">
            <a:avLst/>
          </a:prstGeom>
          <a:solidFill>
            <a:srgbClr val="2D6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26756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2032</a:t>
            </a:r>
          </a:p>
        </p:txBody>
      </p:sp>
      <p:sp>
        <p:nvSpPr>
          <p:cNvPr id="16" name="Oval 15"/>
          <p:cNvSpPr/>
          <p:nvPr/>
        </p:nvSpPr>
        <p:spPr>
          <a:xfrm>
            <a:off x="9538106" y="2304288"/>
            <a:ext cx="201168" cy="201168"/>
          </a:xfrm>
          <a:prstGeom prst="ellipse">
            <a:avLst/>
          </a:prstGeom>
          <a:solidFill>
            <a:srgbClr val="2D4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5498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2034</a:t>
            </a:r>
          </a:p>
        </p:txBody>
      </p:sp>
      <p:sp>
        <p:nvSpPr>
          <p:cNvPr id="18" name="Oval 17"/>
          <p:cNvSpPr/>
          <p:nvPr/>
        </p:nvSpPr>
        <p:spPr>
          <a:xfrm>
            <a:off x="11356848" y="2304288"/>
            <a:ext cx="201168" cy="201168"/>
          </a:xfrm>
          <a:prstGeom prst="ellipse">
            <a:avLst/>
          </a:prstGeom>
          <a:solidFill>
            <a:srgbClr val="2D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0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292608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017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2026 — FOUNDATION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33756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Deploy 4M Bridge. Densify 10 ha. Clear 20 ha for 2027. Build first drying bodega. First harvest: 100 poles. Land title regularization.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92608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017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2027-2029 — SCALE OWN LAND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33756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Plant 50 ha across 3 years (15+15+10). Build pools as needed. Revenue grows 510K → 1.7M MXN. Mgmt salaries start at 20K/month.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16052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251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2028 — ROUND 2 SEED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7200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Close 2.5M Seed at higher valuation (~41.5M post). 2 years of production data. 25 ha already planted. Funds next 4 years.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16052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251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99999"/>
                </a:solidFill>
                <a:latin typeface="Calibri"/>
              </a:defRPr>
            </a:pPr>
            <a:r>
              <a:t>2030-2031 — LEASE EXPANSION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57200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Activate replication model: lease 60 ha from neighbors. 10% revenue share to landowners after expenses. 110 ha total active.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539496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486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99999"/>
                </a:solidFill>
                <a:latin typeface="Calibri"/>
              </a:defRPr>
            </a:pPr>
            <a:r>
              <a:t>2032 — CASH-POSITIVE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80644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First profitable year. 4.1M MXN revenue. Vehicle purchases begin. Dividends planning starts.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539496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5486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66666"/>
                </a:solidFill>
                <a:latin typeface="Calibri"/>
              </a:defRPr>
            </a:pPr>
            <a:r>
              <a:t>2033-2038 — FULL MATURITY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80644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All 110 ha producing. Revenue scales to 52M MXN (at 1,400/ha base). Big bodega 2034. ICC-ES 2037.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2DD4A8"/>
                </a:solidFill>
                <a:latin typeface="Calibri"/>
              </a:defRPr>
            </a:pPr>
            <a:r>
              <a:t>110 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154,000 poles/year at full maturity · Replicable to 200+ 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  <a:latin typeface="Calibri"/>
              </a:defRPr>
            </a:pPr>
            <a:r>
              <a:t>Mexico's first certified Guadua bamboo exporter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Hours from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Salina Cruz 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74903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4A30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Duty-free via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USMCA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74903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4A30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40-year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Land Lease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374903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4A30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Zero waste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59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Pacífico Bambu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D4A8"/>
                </a:solidFill>
                <a:latin typeface="Calibri"/>
              </a:defRPr>
            </a:pPr>
            <a:r>
              <a:t>The bamboo supply chain from Mexico to the US — built right.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El Azulillo, Candelaria, Oaxaca, Mexico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contact@pacificobambu.com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