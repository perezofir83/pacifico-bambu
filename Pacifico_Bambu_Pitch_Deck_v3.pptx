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The Green Revolution</a:t>
            </a:r>
            <a:br/>
            <a:r>
              <a:t>in Oaxaca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88920" y="7315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2DD4A8"/>
                </a:solidFill>
                <a:latin typeface="Calibri"/>
              </a:defRPr>
            </a:pPr>
            <a:r>
              <a:t>Green Revolution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To become Mexico's first vertically integrated bamboo exporter —</a:t>
            </a:r>
            <a:br/>
            <a:r>
              <a:t>from plantation to the US construction market.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5-Year Head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10 hectares fully planted since 2021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High Barriers to 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5-7 year growth cycle = permanent moat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Strategic 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Hours from Mexico's newest Pacific 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BAMBOO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World's Most Renewable</a:t>
            </a:r>
            <a:br/>
            <a:r>
              <a:t>Construction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Not wood. Not plastic. A biological manufacturing platform that renews itself every 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91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Daily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Fastest-growing plant on Earth.</a:t>
            </a:r>
            <a:br/>
            <a:r>
              <a:t>Harvestable in 5 years,</a:t>
            </a:r>
            <a:br/>
            <a:r>
              <a:t>produces for 50+.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Stronger Than Oak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Guadua angustifolia: higher</a:t>
            </a:r>
            <a:br/>
            <a:r>
              <a:t>tensile strength than steel</a:t>
            </a:r>
            <a:br/>
            <a:r>
              <a:t>by weight. The 'vegetal steel.'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12t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CO₂ / Hectare /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sequesters 2× more</a:t>
            </a:r>
            <a:br/>
            <a:r>
              <a:t>carbon than tropical forest.</a:t>
            </a:r>
            <a:br/>
            <a:r>
              <a:t>Carbon-negative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799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19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Replanting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Harvest annually without</a:t>
            </a:r>
            <a:br/>
            <a:r>
              <a:t>replanting. The root system</a:t>
            </a:r>
            <a:br/>
            <a:r>
              <a:t>regenerates indefinitely.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20640"/>
            <a:ext cx="1069848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21208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Key insight: Bamboo is not agriculture — it's a perpetual asset that appreciates with time. Plant once, harvest forever.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 Massive, Growing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Global demand for engineered bamboo is growing 15-20% annually — supply can't keep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$74.5B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Global Bamboo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 projection. CAGR 5.6%.</a:t>
            </a:r>
            <a:br/>
            <a:r>
              <a:t>Construction is the fastest-</a:t>
            </a:r>
            <a:br/>
            <a:r>
              <a:t>growing segment.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TOTAL ADDRESSABLE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$10-12B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 Engineered Bamboo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Currently sourced almost</a:t>
            </a:r>
            <a:br/>
            <a:r>
              <a:t>exclusively from China and</a:t>
            </a:r>
            <a:br/>
            <a:r>
              <a:t>Vietnam. US buyers actively</a:t>
            </a:r>
            <a:br/>
            <a:r>
              <a:t>seeking alternatives.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SERVICEABLE 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Mexican Structural Exports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Zero Mexican companies</a:t>
            </a:r>
            <a:br/>
            <a:r>
              <a:t>export domestically-grown</a:t>
            </a:r>
            <a:br/>
            <a:r>
              <a:t>structural bamboo to the US.</a:t>
            </a:r>
            <a:br/>
            <a:r>
              <a:t>The channel is completely</a:t>
            </a:r>
            <a:br/>
            <a:r>
              <a:t>unbuilt.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WHITE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Sources: Fortune Business Insights, UN Comtrade, Mexico DATAMEXICO trade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Interoceanic Corridor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Mexico's $6-7B Panama Canal bypass puts us hours from the world's newest Pacific 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Three Convergences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017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USMCA Nearshoring Boom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US-China decoupling creating massive demand for Mexican supply chains. Duty-free access to US market.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069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Panama Canal in Crisis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2023-24 drought cut transits 40%. Wait times 10-21+ days. Ships paying $1-4M for priority passage.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1206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Salina Cruz Port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94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Mexico investing MXN 120B in the Interoceanic Corridor. New container terminal, 1.4M TEU capacity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Our Logistics Advantage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Plantation → Salina Cruz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~150 km · 3-5 hrs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Salina Cruz → US West Coast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611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4-6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Rail to Gulf → Houston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3-5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617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vs. Asia via Panama Canal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06E6E"/>
                </a:solidFill>
                <a:latin typeface="Calibri"/>
              </a:defRPr>
            </a:pPr>
            <a:r>
              <a:t>2-3 weeks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5303520"/>
            <a:ext cx="448056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5349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Corredor Interoceánico del Istmo de Tehuantepec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9999"/>
                </a:solidFill>
                <a:latin typeface="Calibri"/>
              </a:defRPr>
            </a:pPr>
            <a:r>
              <a:t>303 km rail · Salina Cruz (Pacific) ↔ Coatzacoalcos (Gulf) · 10 Industrial Poles with tax incentives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ZERO WASTE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Loss in Bamboo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target construction (highest value) — but every part of the plant has a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PRIMARY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2DD4A8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MXN / pole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Structural Premium — Treated Guadua poles for high-end construction. Hotels, villas, eco-luxury projects. Our core product and highest margin.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4A30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Highest margin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INDUSTRIAL BAMBOO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Booming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Straight sticks → furniture, panels, flooring, fencing. The industrial bamboo market is exploding globally. Every culm has value regardless of grade.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99999"/>
                </a:solidFill>
                <a:latin typeface="Calibri"/>
              </a:defRPr>
            </a:pPr>
            <a:r>
              <a:t>Growing 15-20% annually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ADDITIONAL STREAMS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Every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Monetized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74903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Carbon credits (~$21 USD/ha/yr)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05071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Nursery sales (seedlings)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61103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Charcoal &amp; biochar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517135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fiber &amp; textiles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773167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Shoots (food industry)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760720"/>
            <a:ext cx="10698480" cy="6400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80644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Downside protection: Even in our most conservative scenario, bamboo that doesn't meet structural grade still sells into industrial markets at strong margins.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Reliable Supply Chain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US bamboo manufacturers depend on fragmented, uncertified, unreliable supply — mostly from Asia.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Fragmented Supply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Mexican producers are small collectives (under 20 ha each). No single supplier can guarantee volume, consistency, or quality.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 Vertical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Nobody controls growing + treatment + distribution. Growers sell raw, untreated poles. Builders source randomly.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Zero Export Certification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 Mexican producer has ICC-ES or ASTM certification. The US market door is closed without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Asia Dependence =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 builders source from China/Vietnam. 30-45 day shipping, tariff uncertainty, ESG concerns. They want nearshore alternatives.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Mexico's Bamboo Industry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Mostly collectives and micro-companies. Nobody controls the full 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Current Players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Guadua Selecto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Chiapas · Grows + sells Guadua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971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90 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Veracruz · Nursery + tourism +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Not export-focused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Grupo Puebla Bambu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Puebla · Cooperative cluster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343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Fragmented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920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Bambuterra / Qincha / Todo de Bambu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Design studios · Don't grow bamboo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029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DD4A8"/>
                </a:solidFill>
                <a:latin typeface="Calibri"/>
              </a:defRPr>
            </a:pPr>
            <a:r>
              <a:t>Our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What They're Missing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834640"/>
            <a:ext cx="5029200" cy="27432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Full value chain control (grow → process → sell)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Export certifications (ICC-ES / ASTM)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49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Scale for export (100+ ha minimum)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US market access or buyer relationships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✓  Pacífico Bambu is building all of this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5760720"/>
            <a:ext cx="5029200" cy="640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58064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Phase 2 strategy: Once we control the value chain, we sell seedlings to local farmers and buy back — creating a supply network we manage.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Vertical Integration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Grow premium Guadua → treat on-site → sell direct. Control quality, pricing, and the entire value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Guadua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HARVEST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leased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TREAT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Per-10ha pools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DRY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Bodega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400+ MXN (low-end)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Planting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2021 (done)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 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Established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Clear &amp; prep 20 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First planting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Scale own land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+10 ha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Complete own (50 ha)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2030-2031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LEASED from neighbors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2032+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36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Full operation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Key Advantages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023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023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40-year land lease + lease-and-replicate model with neighbors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4617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617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Own seedling propagation from 2029 — cost drops from 35 → 10 MXN (71% reduction)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52120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On-site treatment — boric acid/borax cold soak, 10 pools, 30 poles/batch × 7 days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5806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8064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USMCA duty-free — Mexican-grown bamboo enters US without tariffs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 Have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We've already cleared the highest-risk phase. 5 years of biological establishment — complete.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Hectares Planted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Since April 2, 2021. 2,000 plants</a:t>
            </a:r>
            <a:br/>
            <a:r>
              <a:t>thriving. Guadua + Oldhamii + Gigante.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Active Hectares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ha leased.</a:t>
            </a:r>
            <a:br/>
            <a:r>
              <a:t>Replicable to 200+ ha.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Years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Past the biological risk phase.</a:t>
            </a:r>
            <a:br/>
            <a:r>
              <a:t>Ready for first commercial harvest.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Infrastructure in 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Chevrolet 4×4 truck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Zapotal work yard +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Potable water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Road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2 bathrooms on-site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2026 Milestones (In Progress)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07492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Densify 10 ha (+3,500 seedlings)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Clear 20 ha for 2027 planting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5869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First harvest: ~100 poles 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843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Build first drying bodega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0990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Land title regularization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GROWTH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Lease-and-Replicate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don't just operate land — we built a system that scales beyond the 110 ha. A blueprint for 200+ ha and beyond.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D4A8"/>
                </a:solidFill>
                <a:latin typeface="Calibri"/>
              </a:defRPr>
            </a:pPr>
            <a:r>
              <a:t>50 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Pacífico Bambu's own land</a:t>
            </a:r>
            <a:br/>
            <a:r>
              <a:t>(within 190 ha lease)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0A5FA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Neighbors' unused land</a:t>
            </a:r>
            <a:br/>
            <a:r>
              <a:t>10% revenue share after expenses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REPLICATE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CC15"/>
                </a:solidFill>
                <a:latin typeface="Calibri"/>
              </a:defRPr>
            </a:pPr>
            <a:r>
              <a:t>+100 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Other locations across Oaxaca</a:t>
            </a:r>
            <a:br/>
            <a:r>
              <a:t>Proven model, low capital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1069848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The Replication Model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CAPITAL EFFICIENT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 land purchase needed. Operations only — small CapEx per new site.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WIN-WIN ECONOMICS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Neighbors monetize idle land. We get scale without massive equity raise.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RISK DISTRIBUTED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Multiple locations = climate, pest, and operational risk diversified.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PROVEN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2032 we'll have a tested system: workers, pools, bodegas, sales channel.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Built to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Local land expertise + professional bamboo construction + institutional growth capability.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Juan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Field Operations &amp; Land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Lives in Candelaria. Manages all field operations, workers, planting, harvest, and land preparation. 5 years hands-on bamboo cultivation. Deep local knowledge and community relationships. The land is secured through Juan's 40-year lease.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Diego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Construction, Knowledge &amp; Client Relations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Most experienced team member. Professional bamboo constructor. Builds all structures and treatment infrastructure. Leads treatment protocols, quality control, and client relationships. Manages orders and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80060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Ofir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Managing Partner &amp; Head of Growth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Strategy, finance, fundraising, investor relations, legal, marketing, branding, and certifications. Leads all business operations, financial modeling, and growth strategy. Executes the bridge-to-export roadmap.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0" y="4800600"/>
            <a:ext cx="502920" cy="502920"/>
          </a:xfrm>
          <a:prstGeom prst="ellipse">
            <a:avLst/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99999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Rick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Capital Partner · First Angel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angel investor. Cash contributor with 20% equity stake. Skin in the game from day one — demonstrating conviction in the long-term thesis before external investors join.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Path to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CONSERVATIVE BASE: 110 ha at maturity, 1,400 poles/ha mature yield, 400 MXN/pole. Options: 1K / 2K / 3K.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7315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Revenue Growth (MXN)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552237"/>
            <a:ext cx="548640" cy="25603"/>
          </a:xfrm>
          <a:prstGeom prst="roundRect">
            <a:avLst>
              <a:gd name="adj" fmla="val 15000"/>
            </a:avLst>
          </a:prstGeom>
          <a:solidFill>
            <a:srgbClr val="2D4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323637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34K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526634"/>
            <a:ext cx="548640" cy="51206"/>
          </a:xfrm>
          <a:prstGeom prst="roundRect">
            <a:avLst>
              <a:gd name="adj" fmla="val 15000"/>
            </a:avLst>
          </a:prstGeom>
          <a:solidFill>
            <a:srgbClr val="2D4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529803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510K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5501031"/>
            <a:ext cx="548640" cy="76809"/>
          </a:xfrm>
          <a:prstGeom prst="roundRect">
            <a:avLst>
              <a:gd name="adj" fmla="val 15000"/>
            </a:avLst>
          </a:prstGeom>
          <a:solidFill>
            <a:srgbClr val="2D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5272431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680K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449824"/>
            <a:ext cx="548640" cy="128016"/>
          </a:xfrm>
          <a:prstGeom prst="roundRect">
            <a:avLst>
              <a:gd name="adj" fmla="val 15000"/>
            </a:avLst>
          </a:prstGeom>
          <a:solidFill>
            <a:srgbClr val="2D4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522122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5424221"/>
            <a:ext cx="548640" cy="153619"/>
          </a:xfrm>
          <a:prstGeom prst="roundRect">
            <a:avLst>
              <a:gd name="adj" fmla="val 15000"/>
            </a:avLst>
          </a:prstGeom>
          <a:solidFill>
            <a:srgbClr val="2D4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5195621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5014570"/>
            <a:ext cx="548640" cy="563270"/>
          </a:xfrm>
          <a:prstGeom prst="roundRect">
            <a:avLst>
              <a:gd name="adj" fmla="val 15000"/>
            </a:avLst>
          </a:prstGeom>
          <a:solidFill>
            <a:srgbClr val="2D6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78597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6M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297680"/>
            <a:ext cx="548640" cy="1280160"/>
          </a:xfrm>
          <a:prstGeom prst="roundRect">
            <a:avLst>
              <a:gd name="adj" fmla="val 15000"/>
            </a:avLst>
          </a:prstGeom>
          <a:solidFill>
            <a:srgbClr val="2D8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4069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18M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3017520"/>
            <a:ext cx="548640" cy="2560320"/>
          </a:xfrm>
          <a:prstGeom prst="roundRect">
            <a:avLst>
              <a:gd name="adj" fmla="val 15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7889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52M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2377440"/>
            <a:ext cx="3200400" cy="25603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 Milestones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8803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880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Pilot · 100 poles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200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200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Ramp · 1,500 poles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5204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complete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3840479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8404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Cash-positive cum.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160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Full @ 1,400/ha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480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480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154K poles/year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0" y="5120640"/>
            <a:ext cx="320040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516636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CASH-POSITIVE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</a:t>
            </a:r>
            <a:br/>
            <a:r>
              <a:t>Dividends from 2033+.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Even at conservative yields, the business is profitable. We model what happens if bamboo produces half of our base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560320"/>
            <a:ext cx="137160" cy="13716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10.6M MXN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37M MXN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ACC15"/>
                </a:solidFill>
                <a:latin typeface="Calibri"/>
              </a:defRPr>
            </a:pPr>
            <a:r>
              <a:t>Downside protection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0" y="2560320"/>
            <a:ext cx="137160" cy="13716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BASE CASE 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DD4A8"/>
                </a:solidFill>
                <a:latin typeface="Calibri"/>
              </a:defRPr>
            </a:pPr>
            <a:r>
              <a:t>1,400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15M MXN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52M MXN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OUR PROJECTION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38160" y="2560320"/>
            <a:ext cx="137160" cy="13716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OPTIMISTIC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2,000-3,000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21-32M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73-110M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2031-32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816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Possible upside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CONSERVATIVE BASE: 1,400 poles/ha (not 2,000). Key assumptions: 400 MXN/pole · 15% waste · 110 ha (50 own + 60 leased). Only yield varies.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CAPITAL RAISE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Funding Plan &amp;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Two rounds, 25% total equity ceiling. Round 1 in 3 milestone-based tranches — investor protection built 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40233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BRIDGE ROUND — NOW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4,000,000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MXN for 12% equity (3 tranches)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3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Pre-money: ~29.3M MXN · Post-money: ~33.3M MXN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Tranche 1 (signing): 2026 + Q1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4805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37%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663440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40" y="4663440"/>
            <a:ext cx="1645919" cy="109728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Tranche 2 (Q2 2027): Q2-Q4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86460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047488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5047488"/>
            <a:ext cx="1097280" cy="109728"/>
          </a:xfrm>
          <a:prstGeom prst="roundRect">
            <a:avLst>
              <a:gd name="adj" fmla="val 50000"/>
            </a:avLst>
          </a:prstGeom>
          <a:solidFill>
            <a:srgbClr val="2DA9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24865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Tranche 3 (Q1 2028): until Round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2486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37%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431536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431536"/>
            <a:ext cx="1645919" cy="109728"/>
          </a:xfrm>
          <a:prstGeom prst="roundRect">
            <a:avLst>
              <a:gd name="adj" fmla="val 50000"/>
            </a:avLst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3270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All milestone-based (poles sold, ha)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6327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815584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5815584"/>
            <a:ext cx="0" cy="109728"/>
          </a:xfrm>
          <a:prstGeom prst="roundRect">
            <a:avLst>
              <a:gd name="adj" fmla="val 50000"/>
            </a:avLst>
          </a:prstGeom>
          <a:solidFill>
            <a:srgbClr val="2D54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0" y="2377440"/>
            <a:ext cx="484632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Equity Allocation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partners (3)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26880" y="2926080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12880" y="29077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3832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1 (Bridge)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26880" y="3383280"/>
            <a:ext cx="438912" cy="18288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57232" y="33649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840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2 (Seed 2028)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3840480"/>
            <a:ext cx="329184" cy="18288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8221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2976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Future investors/talent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26880" y="4297680"/>
            <a:ext cx="146304" cy="1828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64624" y="42793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7548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Managing Partner (vested)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4754880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66960" y="47365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4206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Hard ceiling: 25% total investor equity. Round 1 at 12% in 3 tranches (milestone-gated). 4% reserved for future investors or talent hires.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83680" y="484632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This Valuation Is 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53035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You're entering before the risk phase is resolved. Once we prove production at scale and begin US export certification, the next round will reflect a fundamentally different risk profile — and a much higher valuation.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0" y="5943600"/>
            <a:ext cx="4297680" cy="3200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59436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Early entry = highest return potential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FUTURE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Round 2: The Seed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Smaller, lower-risk round in 2028 — funds the path to break-even at higher 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38404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ROUND 2 — SEED (Q3 2028)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5,000,000 MXN for 9%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40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Funds 2030-2032 operations until break-even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51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51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Lower risk: 2 years of production data + leased land model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663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Pre-money: ~39M MXN — significant uplift from Round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0749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Profile: Agri-fund, Family Office, Impact Investor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377440"/>
            <a:ext cx="4846320" cy="21031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Wait for the Next Round?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26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926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Round 1 funds 4 full years (2026-2029) — no rush for Round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429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4290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2028 we have 1.02M MXN revenue + 25 ha producing — proven traction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31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931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5M raise enables marketing investment + US market entry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66344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4800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Valuation Trajectory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166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1 (2026)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166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33.3M MXN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2 (2028)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~55.6M MXN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5852160"/>
            <a:ext cx="4297680" cy="2743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58521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DD4A8"/>
                </a:solidFill>
                <a:latin typeface="Calibri"/>
              </a:defRPr>
            </a:pPr>
            <a:r>
              <a:t>Round 1 enters at lowest valuation = highest upside potential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MILESTONE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De-Risk, Then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Every milestone is verifiable. Money deploys against proven gates, not promises.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698480" cy="73152"/>
          </a:xfrm>
          <a:prstGeom prst="roundRect">
            <a:avLst/>
          </a:prstGeom>
          <a:solidFill>
            <a:srgbClr val="1A4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2304288"/>
            <a:ext cx="201168" cy="201168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8" name="Oval 7"/>
          <p:cNvSpPr/>
          <p:nvPr/>
        </p:nvSpPr>
        <p:spPr>
          <a:xfrm>
            <a:off x="2370124" y="2304288"/>
            <a:ext cx="201168" cy="201168"/>
          </a:xfrm>
          <a:prstGeom prst="ellipse">
            <a:avLst/>
          </a:prstGeom>
          <a:solidFill>
            <a:srgbClr val="2DB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751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0" name="Oval 9"/>
          <p:cNvSpPr/>
          <p:nvPr/>
        </p:nvSpPr>
        <p:spPr>
          <a:xfrm>
            <a:off x="4188866" y="2304288"/>
            <a:ext cx="201168" cy="201168"/>
          </a:xfrm>
          <a:prstGeom prst="ellipse">
            <a:avLst/>
          </a:prstGeom>
          <a:solidFill>
            <a:srgbClr val="2D9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9625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2" name="Oval 11"/>
          <p:cNvSpPr/>
          <p:nvPr/>
        </p:nvSpPr>
        <p:spPr>
          <a:xfrm>
            <a:off x="6007608" y="2304288"/>
            <a:ext cx="201168" cy="201168"/>
          </a:xfrm>
          <a:prstGeom prst="ellipse">
            <a:avLst/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14" name="Oval 13"/>
          <p:cNvSpPr/>
          <p:nvPr/>
        </p:nvSpPr>
        <p:spPr>
          <a:xfrm>
            <a:off x="7719364" y="2304288"/>
            <a:ext cx="201168" cy="201168"/>
          </a:xfrm>
          <a:prstGeom prst="ellipse">
            <a:avLst/>
          </a:prstGeom>
          <a:solidFill>
            <a:srgbClr val="2D6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675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16" name="Oval 15"/>
          <p:cNvSpPr/>
          <p:nvPr/>
        </p:nvSpPr>
        <p:spPr>
          <a:xfrm>
            <a:off x="9538106" y="2304288"/>
            <a:ext cx="201168" cy="201168"/>
          </a:xfrm>
          <a:prstGeom prst="ellipse">
            <a:avLst/>
          </a:prstGeom>
          <a:solidFill>
            <a:srgbClr val="2D4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549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8" name="Oval 17"/>
          <p:cNvSpPr/>
          <p:nvPr/>
        </p:nvSpPr>
        <p:spPr>
          <a:xfrm>
            <a:off x="11356848" y="2304288"/>
            <a:ext cx="201168" cy="201168"/>
          </a:xfrm>
          <a:prstGeom prst="ellipse">
            <a:avLst/>
          </a:prstGeom>
          <a:solidFill>
            <a:srgbClr val="2D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2026 — 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Deploy 4M Bridge. Densify 10 ha. Clear 20 ha for 2027. Build first drying bodega. First harvest: 100 poles. Land title regularization.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2027-2029 — SCALE OWN LAND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Plant 50 ha across 3 years (15+15+10). Build pools as needed. Revenue grows 510K → 1.7M MXN. Mgmt salaries start at 20K/month.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2028 — ROUND 2 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Close 5M Seed at ~55.6M post-money. 2 years of production data. 25 ha already planted. 50% ops + 50% marketing/export.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2030-2031 — LEASE EXPANSION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Activate replication model: lease 60 ha from neighbors. 10% revenue share to landowners after expenses. 110 ha total active.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2032 — CASH-POSITIVE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 5.9M MXN revenue. Vehicle purchases begin. Dividends planning starts.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  <a:latin typeface="Calibri"/>
              </a:defRPr>
            </a:pPr>
            <a:r>
              <a:t>2033-2038 — FULL MATURITY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All 110 ha producing. Revenue scales to 52M MXN (at 1,400/ha base). Big bodega 2034. ICC-ES 2037.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2DD4A8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154,000 poles/year at full maturity · Replicable to 200+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Mexico's first certified Guadua bamboo exporter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Hours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Salina Cruz 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Duty-free via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USMCA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40-year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Land 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Zero waste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Pacífico Bambu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D4A8"/>
                </a:solidFill>
                <a:latin typeface="Calibri"/>
              </a:defRPr>
            </a:pPr>
            <a:r>
              <a:t>The bamboo supply chain from Mexico to the US — built right.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El Azulillo, Candelaria, Oaxaca,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contact@pacificobambu.com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