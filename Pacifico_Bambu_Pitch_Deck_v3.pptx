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The Green Revolution</a:t>
            </a:r>
            <a:br/>
            <a:r>
              <a:t>in 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88920" y="731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DD4A8"/>
                </a:solidFill>
                <a:latin typeface="Calibri"/>
              </a:defRPr>
            </a:pPr>
            <a:r>
              <a:t>Green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OUR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To become Mexico's first vertically integrated bamboo exporter —</a:t>
            </a:r>
            <a:br/>
            <a:r>
              <a:t>from plantation to the US construction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5-Year Head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hectares fully planted since 2021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38912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572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High Barriers to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937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5-7 year growth cycle = permanent moat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38912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4572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Strategic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937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Hours from Mexico's newest Pacific 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WHY BAMBOO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World's Most Renewable</a:t>
            </a:r>
            <a:br/>
            <a:r>
              <a:t>Construction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Not wood. Not plastic. A biological manufacturing platform that renews itself every year.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91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Daily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40"/>
            <a:ext cx="1920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Fastest-growing plant on Earth.</a:t>
            </a:r>
            <a:br/>
            <a:r>
              <a:t>Harvestable in 5 years,</a:t>
            </a:r>
            <a:br/>
            <a:r>
              <a:t>produces for 50+.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Stronger Than Oak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49040"/>
            <a:ext cx="1920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Guadua angustifolia: higher</a:t>
            </a:r>
            <a:br/>
            <a:r>
              <a:t>tensile strength than steel</a:t>
            </a:r>
            <a:br/>
            <a:r>
              <a:t>by weight. The 'vegetal steel.'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56032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12t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CO₂ / Hectare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749040"/>
            <a:ext cx="1920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Bamboo sequesters 2× more</a:t>
            </a:r>
            <a:br/>
            <a:r>
              <a:t>carbon than tropical forest.</a:t>
            </a:r>
            <a:br/>
            <a:r>
              <a:t>Carbon-negative material.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799" y="2560320"/>
            <a:ext cx="2468880" cy="22860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Replanting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3749040"/>
            <a:ext cx="1920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Harvest annually without</a:t>
            </a:r>
            <a:br/>
            <a:r>
              <a:t>replanting. The root system</a:t>
            </a:r>
            <a:br/>
            <a:r>
              <a:t>regenerates indefinitely.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Key insight: Bamboo is not agriculture — it's a perpetual asset that appreciates with time. Plant once, harvest forever.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Massive, Growing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Global demand for engineered bamboo is growing 15-20% annually — supply can't keep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$74.5B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Global Bamboo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2026 projection. CAGR 5.6%.</a:t>
            </a:r>
            <a:br/>
            <a:r>
              <a:t>Construction is the fastest-</a:t>
            </a:r>
            <a:br/>
            <a:r>
              <a:t>growing segment.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A8"/>
                </a:solidFill>
                <a:latin typeface="Calibri"/>
              </a:defRPr>
            </a:pPr>
            <a:r>
              <a:t>TOTAL ADDRESSABLE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37744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$10-12B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 Engineered Bamboo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Currently sourced almost</a:t>
            </a:r>
            <a:br/>
            <a:r>
              <a:t>exclusively from China and</a:t>
            </a:r>
            <a:br/>
            <a:r>
              <a:t>Vietnam. US buyers actively</a:t>
            </a:r>
            <a:br/>
            <a:r>
              <a:t>seeking alternatives.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A8"/>
                </a:solidFill>
                <a:latin typeface="Calibri"/>
              </a:defRPr>
            </a:pPr>
            <a:r>
              <a:t>SERVICEABLE 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37744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Mexican Structural Exports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Zero Mexican companies</a:t>
            </a:r>
            <a:br/>
            <a:r>
              <a:t>export domestically-grown</a:t>
            </a:r>
            <a:br/>
            <a:r>
              <a:t>structural bamboo to the US.</a:t>
            </a:r>
            <a:br/>
            <a:r>
              <a:t>The channel is completely</a:t>
            </a:r>
            <a:br/>
            <a:r>
              <a:t>unbuilt.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A8"/>
                </a:solidFill>
                <a:latin typeface="Calibri"/>
              </a:defRPr>
            </a:pPr>
            <a:r>
              <a:t>WHITE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Sources: Fortune Business Insights, UN Comtrade, Mexico DATAMEXICO trade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Interoceanic Corridor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Mexico's $6-7B Panama Canal bypass puts us hours from the world's newest Pacific 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Three Convergences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A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USMCA Nearshoring Boom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US-China decoupling creating massive demand for Mexican supply chains. Duty-free access to US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A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Panama Canal in Crisis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2023-24 drought cut transits 40%. Wait times 10-21+ days. Ships paying $1-4M for priority passage.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A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Salina Cruz Port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Mexico investing MXN 120B in the Interoceanic Corridor. New container terminal, 1.4M TEU capacity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Our Logistics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Plantation → Salina Cruz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~150 km · 3-5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Salina Cruz → US West Coast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4-6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Rail to Gulf → Houston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3-5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vs. Asia via Panama Canal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06E6E"/>
                </a:solidFill>
                <a:latin typeface="Calibri"/>
              </a:defRPr>
            </a:pPr>
            <a:r>
              <a:t>2-3 weeks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5303520"/>
            <a:ext cx="4480560" cy="73152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5349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A8"/>
                </a:solidFill>
                <a:latin typeface="Calibri"/>
              </a:defRPr>
            </a:pPr>
            <a:r>
              <a:t>Corredor Interoceánico del Istmo de Tehuantepec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303 km rail · Salina Cruz (Pacific) ↔ Coatzacoalcos (Gulf) · 10 Industrial Poles with tax incentives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ZERO WASTE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 Loss in Bamboo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We target construction (highest value) — but every part of the plant has a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A8"/>
                </a:solidFill>
                <a:latin typeface="Calibri"/>
              </a:defRPr>
            </a:pPr>
            <a:r>
              <a:t>PRIMARY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DD4A8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MXN / pole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Structural Premium — Treated Guadua poles for high-end construction. Hotels, villas, eco-luxury projects. Our core product and highest margin.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02920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154A30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D4A8"/>
                </a:solidFill>
                <a:latin typeface="Calibri"/>
              </a:defRPr>
            </a:pPr>
            <a:r>
              <a:t>Highest 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7744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Calibri"/>
              </a:defRPr>
            </a:pPr>
            <a:r>
              <a:t>INDUSTRIAL BAMBOO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Booming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Straight sticks → furniture, panels, flooring, fencing. The industrial bamboo market is exploding globally. Every culm has value regardless of grade.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02920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9999"/>
                </a:solidFill>
                <a:latin typeface="Calibri"/>
              </a:defRPr>
            </a:pPr>
            <a:r>
              <a:t>Growing 15-20% annually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37744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514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Calibri"/>
              </a:defRPr>
            </a:pPr>
            <a:r>
              <a:t>ADDITIONAL STREAMS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Every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9999"/>
                </a:solidFill>
                <a:latin typeface="Calibri"/>
              </a:defRPr>
            </a:pPr>
            <a:r>
              <a:t>Monetized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490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Carbon credits (~$21 USD/ha/yr)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00507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Nursery sales (seedlings)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6110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Charcoal &amp; biochar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51713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Bamboo fiber &amp; textiles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77316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Shoots (food industry)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2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Downside protection: Even in our most conservative scenario, bamboo that doesn't meet structural grade still sells into industrial markets at strong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 Reliable Supply Chain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US bamboo manufacturers depend on fragmented, uncertified, unreliable supply — mostly from Asia.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5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6E6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Fragmented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632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Mexican producers are small collectives (under 20 ha each). No single supplier can guarantee volume, consistency, or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5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6E6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51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 Vertical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0632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Nobody controls growing + treatment + distribution. Growers sell raw, untreated poles. Builders source randomly.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5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6E6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72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Zero Export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9834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No Mexican producer has ICC-ES or ASTM certification. The US market door is closed without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5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6E6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572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Asia Dependence =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9834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US builders source from China/Vietnam. 30-45 day shipping, tariff uncertainty, ESG concerns. They want nearshore alternatives.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Mexico's Bamboo Industry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Mostly collectives and micro-companies. Nobody controls the full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Current Players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Guadua Selecto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Chiapas · Grows + sells Guadua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90 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Bambuver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Veracruz · Nursery + tourism +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Not export-focused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Grupo Puebla Bambu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Puebla · Cooperative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Fragmented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5029200" cy="59436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Bambuterra / Qincha / Todo de Bambu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Design studios · Don't grow bamboo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02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D4A8"/>
                </a:solidFill>
                <a:latin typeface="Calibri"/>
              </a:defRPr>
            </a:pPr>
            <a:r>
              <a:t>Our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They're Missing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83464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✗  Full value chain control (grow → process → sell)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✗  Export certifications (ICC-ES / ASTM)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✗  Scale for export (100+ ha minimum)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✗  US market access or buyer relationships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A8"/>
                </a:solidFill>
                <a:latin typeface="Calibri"/>
              </a:defRPr>
            </a:pPr>
            <a:r>
              <a:t>✓  Pacífico Bambu is building all of this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7607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806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Phase 2 strategy: Once we control the value chain, we sell seedlings to local farmers and buy back — creating a supply network we manage.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Vertical Integration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Grow premium Guadua → treat on-site → sell direct. Control quality, pricing, and the entire value 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190 ha Guadua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37744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HARVEST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97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Selective annual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37744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TREAT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697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Boric acid pools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37744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DRY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97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On-site yard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37744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SELL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697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400 MXN FOB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47472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Planting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2021 (done)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 ha planted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Established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 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Clear &amp; prep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+20 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First planting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2028-2029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+50 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Scale phase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2030-2032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+100 ha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Own seedlings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A8"/>
                </a:solidFill>
                <a:latin typeface="Calibri"/>
              </a:defRPr>
            </a:pPr>
            <a:r>
              <a:t>2033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DD4A8"/>
                </a:solidFill>
                <a:latin typeface="Calibri"/>
              </a:defRPr>
            </a:pPr>
            <a:r>
              <a:t>190 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Full capacity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347472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Advantages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023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A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40-year land lease secured at El Azulillo, Candelaria, Oaxaca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A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4617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Own seedling propagation from 2029 — cost drops from 35 → 10 MXN (71% reduction)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A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5212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On-site treatment — boric acid/borax cold soak, 10 pools, 30 poles/batch × 7 days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806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D4A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58064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USMCA duty-free — Mexican-grown bamboo enters US without tariffs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We've already cleared the highest-risk phase. 5 years of biological establishment — complete.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D4A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Hectares Planted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Since April 2, 2021. 2,000 plants</a:t>
            </a:r>
            <a:br/>
            <a:r>
              <a:t>thriving. Guadua + Oldhamii + Gigante.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774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D4A8"/>
                </a:solidFill>
                <a:latin typeface="Calibri"/>
              </a:defRPr>
            </a:pPr>
            <a:r>
              <a:t>190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Hectares Secured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40-year land lease. El Azulillo,</a:t>
            </a:r>
            <a:br/>
            <a:r>
              <a:t>Candelaria, Oaxaca. Ready to expand.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377440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D4A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Years Established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74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Past the biological risk phase.</a:t>
            </a:r>
            <a:br/>
            <a:r>
              <a:t>Ready for first commercial harvest.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Infrastructure in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✓  Chevrolet 4×4 truck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074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✓  Zapotal work yard +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✓  Potable water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349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✓  Road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✓  2 bathrooms on-site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720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2026 Milestones (In Progress)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749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alibri"/>
              </a:defRPr>
            </a:pPr>
            <a:r>
              <a:t>◉  Map &amp; count existing 10 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alibri"/>
              </a:defRPr>
            </a:pPr>
            <a:r>
              <a:t>◉  Clear 20 ha for 2027 planting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5869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alibri"/>
              </a:defRPr>
            </a:pPr>
            <a:r>
              <a:t>◉  First harvest: ~1,000 poles → 340K MXN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843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alibri"/>
              </a:defRPr>
            </a:pPr>
            <a:r>
              <a:t>◉  Build 10 treatment pools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60990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ACC15"/>
                </a:solidFill>
                <a:latin typeface="Calibri"/>
              </a:defRPr>
            </a:pPr>
            <a:r>
              <a:t>◉  Land title regularization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to Execute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Local land expertise + professional bamboo construction + institutional growth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697480"/>
            <a:ext cx="502920" cy="502920"/>
          </a:xfrm>
          <a:prstGeom prst="ellipse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A8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97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A8"/>
                </a:solidFill>
                <a:latin typeface="Calibri"/>
              </a:defRPr>
            </a:pPr>
            <a:r>
              <a:t>Field Operations &amp; Land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Lives in Candelaria. Manages all field operations, workers, planting, harvest, and land preparation. 5 years hands-on bamboo cultivation. Deep local knowledge and community relationships. The land is secured through Juan's 40-year 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697480"/>
            <a:ext cx="502920" cy="502920"/>
          </a:xfrm>
          <a:prstGeom prst="ellipse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A8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97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71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A8"/>
                </a:solidFill>
                <a:latin typeface="Calibri"/>
              </a:defRPr>
            </a:pPr>
            <a:r>
              <a:t>Construction, Knowledge &amp; Client 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Most experienced team member. Professional bamboo constructor. Builds all structures and treatment infrastructure. Leads treatment protocols, quality control, and client relationships. Manages orders and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800600"/>
            <a:ext cx="502920" cy="502920"/>
          </a:xfrm>
          <a:prstGeom prst="ellipse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4A8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Ofir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74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A8"/>
                </a:solidFill>
                <a:latin typeface="Calibri"/>
              </a:defRPr>
            </a:pPr>
            <a:r>
              <a:t>Managing Partner &amp; Head of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864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Strategy, finance, fundraising, investor relations, legal, marketing, branding, and certifications. Leads all business operations, financial modeling, and growth strategy. Executes the bridge-to-export roadmap.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800600"/>
            <a:ext cx="502920" cy="502920"/>
          </a:xfrm>
          <a:prstGeom prst="ellipse">
            <a:avLst/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846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99999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074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Founding Capital Partner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4864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Cash contributor with 33.33% equity stake. Skin in the game from day one — demonstrating conviction in the long-term thesis before external investors join.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Path to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Conservative projections: 2,000 poles/ha at maturity, 400 MXN/pole, 15% waste.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7315200" cy="38404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Revenue Growth (MXN)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526634"/>
            <a:ext cx="548640" cy="51206"/>
          </a:xfrm>
          <a:prstGeom prst="roundRect">
            <a:avLst>
              <a:gd name="adj" fmla="val 15000"/>
            </a:avLst>
          </a:prstGeom>
          <a:solidFill>
            <a:srgbClr val="2D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9803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340K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5449824"/>
            <a:ext cx="548640" cy="128016"/>
          </a:xfrm>
          <a:prstGeom prst="roundRect">
            <a:avLst>
              <a:gd name="adj" fmla="val 15000"/>
            </a:avLst>
          </a:prstGeom>
          <a:solidFill>
            <a:srgbClr val="2D4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52212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5321808"/>
            <a:ext cx="548640" cy="256032"/>
          </a:xfrm>
          <a:prstGeom prst="roundRect">
            <a:avLst>
              <a:gd name="adj" fmla="val 15000"/>
            </a:avLst>
          </a:prstGeom>
          <a:solidFill>
            <a:srgbClr val="2D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50932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065776"/>
            <a:ext cx="548640" cy="512064"/>
          </a:xfrm>
          <a:prstGeom prst="roundRect">
            <a:avLst>
              <a:gd name="adj" fmla="val 15000"/>
            </a:avLst>
          </a:prstGeom>
          <a:solidFill>
            <a:srgbClr val="2D5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8371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809744"/>
            <a:ext cx="548640" cy="768096"/>
          </a:xfrm>
          <a:prstGeom prst="roundRect">
            <a:avLst>
              <a:gd name="adj" fmla="val 15000"/>
            </a:avLst>
          </a:prstGeom>
          <a:solidFill>
            <a:srgbClr val="2D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5811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A8"/>
                </a:solidFill>
                <a:latin typeface="Calibri"/>
              </a:defRPr>
            </a:pPr>
            <a:r>
              <a:t>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A8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69664"/>
            <a:ext cx="548640" cy="1408176"/>
          </a:xfrm>
          <a:prstGeom prst="roundRect">
            <a:avLst>
              <a:gd name="adj" fmla="val 15000"/>
            </a:avLst>
          </a:prstGeom>
          <a:solidFill>
            <a:srgbClr val="2D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9410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17M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2032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529584"/>
            <a:ext cx="548640" cy="2048256"/>
          </a:xfrm>
          <a:prstGeom prst="roundRect">
            <a:avLst>
              <a:gd name="adj" fmla="val 15000"/>
            </a:avLst>
          </a:prstGeom>
          <a:solidFill>
            <a:srgbClr val="2DB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3009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99999"/>
                </a:solidFill>
                <a:latin typeface="Calibri"/>
              </a:defRPr>
            </a:pPr>
            <a:r>
              <a:t>32M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2033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3017520"/>
            <a:ext cx="548640" cy="2560320"/>
          </a:xfrm>
          <a:prstGeom prst="roundRect">
            <a:avLst>
              <a:gd name="adj" fmla="val 15000"/>
            </a:avLst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788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A8"/>
                </a:solidFill>
                <a:latin typeface="Calibri"/>
              </a:defRPr>
            </a:pPr>
            <a:r>
              <a:t>92M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DD4A8"/>
                </a:solidFill>
                <a:latin typeface="Calibri"/>
              </a:defRPr>
            </a:pPr>
            <a:r>
              <a:t>2036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377440"/>
            <a:ext cx="3200400" cy="25603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880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Pilot · 850 poles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200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Scale · 2,550 poles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520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Growth · 5,100 poles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84047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A8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8404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D4A8"/>
                </a:solidFill>
                <a:latin typeface="Calibri"/>
              </a:defRPr>
            </a:pPr>
            <a:r>
              <a:t>Cash-positive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160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190 ha complete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Full production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512064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5166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A8"/>
                </a:solidFill>
                <a:latin typeface="Calibri"/>
              </a:defRPr>
            </a:pPr>
            <a:r>
              <a:t>CASH-POSITIVE 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A8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Revenue exceeds operating expenses.</a:t>
            </a:r>
            <a:br/>
            <a:r>
              <a:t>Dividends begin.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Even at conservative yields, the business is profitable. We model what happens if bamboo produces half of our base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560320"/>
            <a:ext cx="137160" cy="13716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poles/ha at maturity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Revenue 2032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8.6M MXN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Revenue 2036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46M MXN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2031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30352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15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ACC15"/>
                </a:solidFill>
                <a:latin typeface="Calibri"/>
              </a:defRPr>
            </a:pPr>
            <a:r>
              <a:t>Still profitable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37744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0" y="2560320"/>
            <a:ext cx="137160" cy="13716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A8"/>
                </a:solidFill>
                <a:latin typeface="Calibri"/>
              </a:defRPr>
            </a:pPr>
            <a:r>
              <a:t>BASE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80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D4A8"/>
                </a:solidFill>
                <a:latin typeface="Calibri"/>
              </a:defRPr>
            </a:pPr>
            <a:r>
              <a:t>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poles/ha at maturity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Revenue 2032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17.2M MXN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Revenue 2036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92M MXN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DD4A8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30352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15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D4A8"/>
                </a:solidFill>
                <a:latin typeface="Calibri"/>
              </a:defRPr>
            </a:pPr>
            <a:r>
              <a:t>Our projection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237744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38160" y="2560320"/>
            <a:ext cx="137160" cy="1371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OPTIMISTIC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880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poles/ha at maturity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Revenue 2032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25.8M MXN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Revenue 2036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138M MXN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5303520"/>
            <a:ext cx="2743200" cy="320040"/>
          </a:xfrm>
          <a:prstGeom prst="roundRect">
            <a:avLst>
              <a:gd name="adj" fmla="val 5000"/>
            </a:avLst>
          </a:prstGeom>
          <a:solidFill>
            <a:srgbClr val="15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0A5FA"/>
                </a:solidFill>
                <a:latin typeface="Calibri"/>
              </a:defRPr>
            </a:pPr>
            <a:r>
              <a:t>Possible upside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Key assumptions held constant: 400 MXN/pole · 15% waste · 190 ha total · Planting schedule unchanged. Only yield per hectare varies.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INVESTMENT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We allocated 25% equity for investors. Currently offering the first tranche at early-stage 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A8"/>
                </a:solidFill>
                <a:latin typeface="Calibri"/>
              </a:defRPr>
            </a:pPr>
            <a:r>
              <a:t>BRIDGE ROUND — NOW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5,000,000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MXN for 6.5% equity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Pre-money valuation: 35.96M MXN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Land clearing &amp; preparation (20 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4805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663440"/>
            <a:ext cx="4389120" cy="109728"/>
          </a:xfrm>
          <a:prstGeom prst="roundRect">
            <a:avLst>
              <a:gd name="adj" fmla="val 50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4663440"/>
            <a:ext cx="1536192" cy="109728"/>
          </a:xfrm>
          <a:prstGeom prst="roundRect">
            <a:avLst>
              <a:gd name="adj" fmla="val 50000"/>
            </a:avLst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Treatment infrastructure (10 pools)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86460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47488"/>
            <a:ext cx="4389120" cy="109728"/>
          </a:xfrm>
          <a:prstGeom prst="roundRect">
            <a:avLst>
              <a:gd name="adj" fmla="val 50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5047488"/>
            <a:ext cx="1141171" cy="109728"/>
          </a:xfrm>
          <a:prstGeom prst="roundRect">
            <a:avLst>
              <a:gd name="adj" fmla="val 50000"/>
            </a:avLst>
          </a:prstGeom>
          <a:solidFill>
            <a:srgbClr val="2DA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2486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Salaries &amp;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2486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431536"/>
            <a:ext cx="4389120" cy="109728"/>
          </a:xfrm>
          <a:prstGeom prst="roundRect">
            <a:avLst>
              <a:gd name="adj" fmla="val 50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5431536"/>
            <a:ext cx="1097280" cy="109728"/>
          </a:xfrm>
          <a:prstGeom prst="roundRect">
            <a:avLst>
              <a:gd name="adj" fmla="val 50000"/>
            </a:avLst>
          </a:prstGeom>
          <a:solidFill>
            <a:srgbClr val="2D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327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Marketing, legal, reserve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63270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815584"/>
            <a:ext cx="4389120" cy="109728"/>
          </a:xfrm>
          <a:prstGeom prst="roundRect">
            <a:avLst>
              <a:gd name="adj" fmla="val 50000"/>
            </a:avLst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5815584"/>
            <a:ext cx="614476" cy="109728"/>
          </a:xfrm>
          <a:prstGeom prst="roundRect">
            <a:avLst>
              <a:gd name="adj" fmla="val 50000"/>
            </a:avLst>
          </a:prstGeom>
          <a:solidFill>
            <a:srgbClr val="2D5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0" y="2377440"/>
            <a:ext cx="4846320" cy="228600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5146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Equity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926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Founding partners (3)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2926080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0" y="2907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Investors (total reserved)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3383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33649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840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Managing Partner (vested)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384048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38221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06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Bridge investor enters at 6.5% of the 25% investor allocation. Remaining equity reserved for the next round at a significantly higher valuation.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846320"/>
            <a:ext cx="4846320" cy="15544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983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Why This Valuation Is 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3035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You're entering before the risk phase is resolved. Once we prove production at scale and begin US export certification, the next round will reflect a fundamentally different risk profile — and a much higher valuation.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5943600"/>
            <a:ext cx="4297680" cy="32004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943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A8"/>
                </a:solidFill>
                <a:latin typeface="Calibri"/>
              </a:defRPr>
            </a:pPr>
            <a:r>
              <a:t>Early entry = highest return potential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FUTURE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Next 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Our next investor won't just be capital — they'll be a customer.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303520" cy="384048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A8"/>
                </a:solidFill>
                <a:latin typeface="Calibri"/>
              </a:defRPr>
            </a:pPr>
            <a:r>
              <a:t>STRATEGIC INVESTOR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 investor who needs 100,000+ bamboo poles per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Opens channels to US factories, suppliers, and contractors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51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Has existing relationships in the US engineered bamboo or construction 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Brings industry expertise to accelerate ICC-ES/ASTM certification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74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Strategic capital, not just financial — aligned incentives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377440"/>
            <a:ext cx="4846320" cy="210312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5146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Why Wait for the Next Round?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926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We need real production data (2+ years) to command a fair 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429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The risk phase must be resolved — planted hectares, proven yields, market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31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931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US market entry requires certification investment — that's what the next round funds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663440"/>
            <a:ext cx="4846320" cy="15544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8006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Valuation Trajectory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Bridge (now)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166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36M MXN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Next round (post-milestones)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DD4A8"/>
                </a:solidFill>
                <a:latin typeface="Calibri"/>
              </a:defRPr>
            </a:pPr>
            <a:r>
              <a:t>Significantly higher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5852160"/>
            <a:ext cx="4297680" cy="27432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5852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D4A8"/>
                </a:solidFill>
                <a:latin typeface="Calibri"/>
              </a:defRPr>
            </a:pPr>
            <a:r>
              <a:t>Bridge investor benefits from the largest valuation uplift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MILESTONE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De-Risk, Then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Every milestone is verifiable. Money deploys against proven gates, not promises.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698480" cy="73152"/>
          </a:xfrm>
          <a:prstGeom prst="roundRect">
            <a:avLst/>
          </a:prstGeom>
          <a:solidFill>
            <a:srgbClr val="1A4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2304288"/>
            <a:ext cx="201168" cy="201168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8" name="Oval 7"/>
          <p:cNvSpPr/>
          <p:nvPr/>
        </p:nvSpPr>
        <p:spPr>
          <a:xfrm>
            <a:off x="2370124" y="2304288"/>
            <a:ext cx="201168" cy="201168"/>
          </a:xfrm>
          <a:prstGeom prst="ellipse">
            <a:avLst/>
          </a:prstGeom>
          <a:solidFill>
            <a:srgbClr val="2DB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7516" y="25603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10" name="Oval 9"/>
          <p:cNvSpPr/>
          <p:nvPr/>
        </p:nvSpPr>
        <p:spPr>
          <a:xfrm>
            <a:off x="4188866" y="2304288"/>
            <a:ext cx="201168" cy="201168"/>
          </a:xfrm>
          <a:prstGeom prst="ellipse">
            <a:avLst/>
          </a:prstGeom>
          <a:solidFill>
            <a:srgbClr val="2D9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6258" y="25603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2028-29</a:t>
            </a:r>
          </a:p>
        </p:txBody>
      </p:sp>
      <p:sp>
        <p:nvSpPr>
          <p:cNvPr id="12" name="Oval 11"/>
          <p:cNvSpPr/>
          <p:nvPr/>
        </p:nvSpPr>
        <p:spPr>
          <a:xfrm>
            <a:off x="6007608" y="2304288"/>
            <a:ext cx="201168" cy="201168"/>
          </a:xfrm>
          <a:prstGeom prst="ellipse">
            <a:avLst/>
          </a:prstGeom>
          <a:solidFill>
            <a:srgbClr val="2D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5603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14" name="Oval 13"/>
          <p:cNvSpPr/>
          <p:nvPr/>
        </p:nvSpPr>
        <p:spPr>
          <a:xfrm>
            <a:off x="7719364" y="2304288"/>
            <a:ext cx="201168" cy="201168"/>
          </a:xfrm>
          <a:prstGeom prst="ellipse">
            <a:avLst/>
          </a:prstGeom>
          <a:solidFill>
            <a:srgbClr val="2D6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6756" y="25603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2031-32</a:t>
            </a:r>
          </a:p>
        </p:txBody>
      </p:sp>
      <p:sp>
        <p:nvSpPr>
          <p:cNvPr id="16" name="Oval 15"/>
          <p:cNvSpPr/>
          <p:nvPr/>
        </p:nvSpPr>
        <p:spPr>
          <a:xfrm>
            <a:off x="9538106" y="2304288"/>
            <a:ext cx="201168" cy="201168"/>
          </a:xfrm>
          <a:prstGeom prst="ellipse">
            <a:avLst/>
          </a:prstGeom>
          <a:solidFill>
            <a:srgbClr val="2D4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5498" y="25603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2033</a:t>
            </a:r>
          </a:p>
        </p:txBody>
      </p:sp>
      <p:sp>
        <p:nvSpPr>
          <p:cNvPr id="18" name="Oval 17"/>
          <p:cNvSpPr/>
          <p:nvPr/>
        </p:nvSpPr>
        <p:spPr>
          <a:xfrm>
            <a:off x="11356848" y="2304288"/>
            <a:ext cx="201168" cy="201168"/>
          </a:xfrm>
          <a:prstGeom prst="ellipse">
            <a:avLst/>
          </a:prstGeom>
          <a:solidFill>
            <a:srgbClr val="2D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0" y="25603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2034+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2608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A8"/>
                </a:solidFill>
                <a:latin typeface="Calibri"/>
              </a:defRPr>
            </a:pPr>
            <a:r>
              <a:t>2026 —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3375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Deploy bridge. Map 10 ha. Clear 20 ha. Build 10 treatment pools. First harvest: 1,000 poles (340K MXN). Land title regularization.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92608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0F3A24"/>
          </a:solidFill>
          <a:ln w="12700">
            <a:solidFill>
              <a:srgbClr val="2D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A8"/>
                </a:solidFill>
                <a:latin typeface="Calibri"/>
              </a:defRPr>
            </a:pPr>
            <a:r>
              <a:t>2027 — FIRST PLANTING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Plant 20 new ha (external seedlings). Harvest 2,550 poles → 1.02M MXN. Build warehouse + drying yard. Expand buyer network.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6052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2028-2029 — SCALE &amp;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Plant 50 more ha. Revenue: 2-4M MXN. Carbon credit registration (Verra). Prepare next round with 3 years of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6052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Calibri"/>
              </a:defRPr>
            </a:pPr>
            <a:r>
              <a:t>2030 — CASH-POSITIVE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720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Revenue exceeds OpEx. 110 ha cumulative. Dividend distributions begin. Close strategic investor round (investor-customer).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  <a:latin typeface="Calibri"/>
              </a:defRPr>
            </a:pPr>
            <a:r>
              <a:t>2031-2033 — FULL CAPACITY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8064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Plant final hectares → 190 ha total. ICC-ES certification process. Begin US trade shows. Team grows to 15-18.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39496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123D26"/>
          </a:solidFill>
          <a:ln w="12700">
            <a:solidFill>
              <a:srgbClr val="1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  <a:latin typeface="Calibri"/>
              </a:defRPr>
            </a:pPr>
            <a:r>
              <a:t>2034+ — US 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8064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ICC-ES certified. First US export via Salina Cruz. Revenue: 50-92M MXN. Mexico's first certified Guadua exporter.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2DD4A8"/>
                </a:solidFill>
                <a:latin typeface="Calibri"/>
              </a:defRPr>
            </a:pPr>
            <a:r>
              <a:t>190 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230,000+ poles per year at full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Mexico's first certified Guadua bamboo exporter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Hours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Salina Cruz 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4A3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657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Duty-free via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USMCA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4A3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57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40-year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Land 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4A3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3657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Zero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Pacífico Bambu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D4A8"/>
                </a:solidFill>
                <a:latin typeface="Calibri"/>
              </a:defRPr>
            </a:pPr>
            <a:r>
              <a:t>The bamboo supply chain from Mexico to the US — built right.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El Azulillo, Candelaria, Oaxaca, Mexico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contact@pacificobambu.com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