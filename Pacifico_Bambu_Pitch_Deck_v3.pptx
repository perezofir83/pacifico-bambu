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058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>
                <a:solidFill>
                  <a:srgbClr val="FFFFFF"/>
                </a:solidFill>
                <a:latin typeface="Calibri"/>
              </a:defRPr>
            </a:pPr>
            <a:r>
              <a:t>The Green Revolution</a:t>
            </a:r>
            <a:br/>
            <a:r>
              <a:t>in Oaxaca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88920" y="731520"/>
            <a:ext cx="7315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>
                <a:solidFill>
                  <a:srgbClr val="2DD4A8"/>
                </a:solidFill>
                <a:latin typeface="Calibri"/>
              </a:defRPr>
            </a:pPr>
            <a:r>
              <a:t>Green Revolution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560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D4A8"/>
                </a:solidFill>
                <a:latin typeface="Calibri"/>
              </a:defRPr>
            </a:pPr>
            <a:r>
              <a:t>OUR VISION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CCCCC"/>
                </a:solidFill>
                <a:latin typeface="Calibri"/>
              </a:defRPr>
            </a:pPr>
            <a:r>
              <a:t>To become Mexico's first vertically integrated bamboo exporter —</a:t>
            </a:r>
            <a:br/>
            <a:r>
              <a:t>from plantation to the US construction market.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389120"/>
            <a:ext cx="3200400" cy="137160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457200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5-Year Head Start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93776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10 hectares fully planted since 2021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06240" y="4389120"/>
            <a:ext cx="3200400" cy="137160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0560" y="457200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High Barriers to Entry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493776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5-7 year growth cycle = permanent moat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80960" y="4389120"/>
            <a:ext cx="3200400" cy="137160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55280" y="457200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Strategic Location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80" y="493776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Hours from Mexico's newest Pacific port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D4A8"/>
                </a:solidFill>
                <a:latin typeface="Calibri"/>
              </a:defRPr>
            </a:pPr>
            <a:r>
              <a:t>WHY BAMBOO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The World's Most Renewable</a:t>
            </a:r>
            <a:br/>
            <a:r>
              <a:t>Construction Material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99999"/>
                </a:solidFill>
                <a:latin typeface="Calibri"/>
              </a:defRPr>
            </a:pPr>
            <a:r>
              <a:t>Not wood. Not plastic. A biological manufacturing platform that renews itself every year.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560320"/>
            <a:ext cx="2468880" cy="228600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83464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DD4A8"/>
                </a:solidFill>
                <a:latin typeface="Calibri"/>
              </a:defRPr>
            </a:pPr>
            <a:r>
              <a:t>91 cm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38328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Daily Growth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749040"/>
            <a:ext cx="1920240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Fastest-growing plant on Earth.</a:t>
            </a:r>
            <a:br/>
            <a:r>
              <a:t>Harvestable in 5 years,</a:t>
            </a:r>
            <a:br/>
            <a:r>
              <a:t>produces for 50+.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80" y="2560320"/>
            <a:ext cx="2468880" cy="228600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0" y="283464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DD4A8"/>
                </a:solidFill>
                <a:latin typeface="Calibri"/>
              </a:defRPr>
            </a:pPr>
            <a:r>
              <a:t>2×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338328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Stronger Than Oak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3749040"/>
            <a:ext cx="1920240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Guadua angustifolia: higher</a:t>
            </a:r>
            <a:br/>
            <a:r>
              <a:t>tensile strength than steel</a:t>
            </a:r>
            <a:br/>
            <a:r>
              <a:t>by weight. The 'vegetal steel.'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35040" y="2560320"/>
            <a:ext cx="2468880" cy="228600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283464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DD4A8"/>
                </a:solidFill>
                <a:latin typeface="Calibri"/>
              </a:defRPr>
            </a:pPr>
            <a:r>
              <a:t>12t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338328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CO₂ / Hectare / Year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3749040"/>
            <a:ext cx="1920240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Bamboo sequesters 2× more</a:t>
            </a:r>
            <a:br/>
            <a:r>
              <a:t>carbon than tropical forest.</a:t>
            </a:r>
            <a:br/>
            <a:r>
              <a:t>Carbon-negative material.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799" y="2560320"/>
            <a:ext cx="2468880" cy="228600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19" y="283464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DD4A8"/>
                </a:solidFill>
                <a:latin typeface="Calibri"/>
              </a:defRPr>
            </a:pPr>
            <a: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19" y="338328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Replanting Needed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19" y="3749040"/>
            <a:ext cx="1920240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Harvest annually without</a:t>
            </a:r>
            <a:br/>
            <a:r>
              <a:t>replanting. The root system</a:t>
            </a:r>
            <a:br/>
            <a:r>
              <a:t>regenerates indefinitely.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5120640"/>
            <a:ext cx="10698480" cy="73152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212080"/>
            <a:ext cx="10149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  <a:latin typeface="Calibri"/>
              </a:defRPr>
            </a:pPr>
            <a:r>
              <a:t>Key insight: Bamboo is not agriculture — it's a perpetual asset that appreciates with time. Plant once, harvest forever.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D4A8"/>
                </a:solidFill>
                <a:latin typeface="Calibri"/>
              </a:defRPr>
            </a:pPr>
            <a:r>
              <a:t>MARKET OPPORTUNITY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A Massive, Growing 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99999"/>
                </a:solidFill>
                <a:latin typeface="Calibri"/>
              </a:defRPr>
            </a:pPr>
            <a:r>
              <a:t>Global demand for engineered bamboo is growing 15-20% annually — supply can't keep up.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77440"/>
            <a:ext cx="3291840" cy="320040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6517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DD4A8"/>
                </a:solidFill>
                <a:latin typeface="Calibri"/>
              </a:defRPr>
            </a:pPr>
            <a:r>
              <a:t>$74.5B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2004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Global Bamboo Market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566160"/>
            <a:ext cx="27432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2026 projection. CAGR 5.6%.</a:t>
            </a:r>
            <a:br/>
            <a:r>
              <a:t>Construction is the fastest-</a:t>
            </a:r>
            <a:br/>
            <a:r>
              <a:t>growing segment.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9377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DD4A8"/>
                </a:solidFill>
                <a:latin typeface="Calibri"/>
              </a:defRPr>
            </a:pPr>
            <a:r>
              <a:t>TOTAL ADDRESSABLE MARKET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2377440"/>
            <a:ext cx="3291840" cy="320040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26517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DD4A8"/>
                </a:solidFill>
                <a:latin typeface="Calibri"/>
              </a:defRPr>
            </a:pPr>
            <a:r>
              <a:t>$10-12B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2004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US Engineered Bamboo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3566160"/>
            <a:ext cx="27432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Currently sourced almost</a:t>
            </a:r>
            <a:br/>
            <a:r>
              <a:t>exclusively from China and</a:t>
            </a:r>
            <a:br/>
            <a:r>
              <a:t>Vietnam. US buyers actively</a:t>
            </a:r>
            <a:br/>
            <a:r>
              <a:t>seeking alternatives.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49377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DD4A8"/>
                </a:solidFill>
                <a:latin typeface="Calibri"/>
              </a:defRPr>
            </a:pPr>
            <a:r>
              <a:t>SERVICEABLE MARKET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63840" y="2377440"/>
            <a:ext cx="3291840" cy="320040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38160" y="26517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DD4A8"/>
                </a:solidFill>
                <a:latin typeface="Calibri"/>
              </a:defRPr>
            </a:pPr>
            <a:r>
              <a:t>$0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32004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Mexican Structural Exports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3566160"/>
            <a:ext cx="27432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Zero Mexican companies</a:t>
            </a:r>
            <a:br/>
            <a:r>
              <a:t>export domestically-grown</a:t>
            </a:r>
            <a:br/>
            <a:r>
              <a:t>structural bamboo to the US.</a:t>
            </a:r>
            <a:br/>
            <a:r>
              <a:t>The channel is completely</a:t>
            </a:r>
            <a:br/>
            <a:r>
              <a:t>unbuilt.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49377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DD4A8"/>
                </a:solidFill>
                <a:latin typeface="Calibri"/>
              </a:defRPr>
            </a:pPr>
            <a:r>
              <a:t>WHITE SPACE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94360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66666"/>
                </a:solidFill>
                <a:latin typeface="Calibri"/>
              </a:defRPr>
            </a:pPr>
            <a:r>
              <a:t>Sources: Fortune Business Insights, UN Comtrade, Mexico DATAMEXICO trade data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D4A8"/>
                </a:solidFill>
                <a:latin typeface="Calibri"/>
              </a:defRPr>
            </a:pPr>
            <a:r>
              <a:t>WHY 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The Interoceanic Corridor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99999"/>
                </a:solidFill>
                <a:latin typeface="Calibri"/>
              </a:defRPr>
            </a:pPr>
            <a:r>
              <a:t>Mexico's $6-7B Panama Canal bypass puts us hours from the world's newest Pacific port.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7744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5603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Three Convergences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17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DD4A8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301752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USMCA Nearshoring Boom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329184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US-China decoupling creating massive demand for Mexican supply chains. Duty-free access to US market.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06908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DD4A8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406908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Panama Canal in Crisis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434340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2023-24 drought cut transits 40%. Wait times 10-21+ days. Ships paying $1-4M for priority passage.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DD4A8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51206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Salina Cruz Port Expansion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53949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Mexico investing MXN 120B in the Interoceanic Corridor. New container terminal, 1.4M TEU capacity target.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237744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0" y="25603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Our Logistics Advantage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31089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Plantation → Salina Cruz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0" y="3108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2DD4A8"/>
                </a:solidFill>
                <a:latin typeface="Calibri"/>
              </a:defRPr>
            </a:pPr>
            <a:r>
              <a:t>~150 km · 3-5 hrs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3611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Salina Cruz → US West Coast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0" y="36118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2DD4A8"/>
                </a:solidFill>
                <a:latin typeface="Calibri"/>
              </a:defRPr>
            </a:pPr>
            <a:r>
              <a:t>4-6 days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41148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Rail to Gulf → Houston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20" y="41148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2DD4A8"/>
                </a:solidFill>
                <a:latin typeface="Calibri"/>
              </a:defRPr>
            </a:pPr>
            <a:r>
              <a:t>3-5 days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0" y="46177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vs. Asia via Panama Canal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1832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06E6E"/>
                </a:solidFill>
                <a:latin typeface="Calibri"/>
              </a:defRPr>
            </a:pPr>
            <a:r>
              <a:t>2-3 weeks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75120" y="5303520"/>
            <a:ext cx="4480560" cy="73152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0" y="53492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DD4A8"/>
                </a:solidFill>
                <a:latin typeface="Calibri"/>
              </a:defRPr>
            </a:pPr>
            <a:r>
              <a:t>Corredor Interoceánico del Istmo de Tehuantepec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0" y="562356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9999"/>
                </a:solidFill>
                <a:latin typeface="Calibri"/>
              </a:defRPr>
            </a:pPr>
            <a:r>
              <a:t>303 km rail · Salina Cruz (Pacific) ↔ Coatzacoalcos (Gulf) · 10 Industrial Poles with tax incentives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D4A8"/>
                </a:solidFill>
                <a:latin typeface="Calibri"/>
              </a:defRPr>
            </a:pPr>
            <a:r>
              <a:t>ZERO WASTE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No Loss in Bamboo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99999"/>
                </a:solidFill>
                <a:latin typeface="Calibri"/>
              </a:defRPr>
            </a:pPr>
            <a:r>
              <a:t>We target construction (highest value) — but every part of the plant has a market.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77440"/>
            <a:ext cx="3291840" cy="320040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51460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DD4A8"/>
                </a:solidFill>
                <a:latin typeface="Calibri"/>
              </a:defRPr>
            </a:pPr>
            <a:r>
              <a:t>PRIMARY REVENUE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83464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2DD4A8"/>
                </a:solidFill>
                <a:latin typeface="Calibri"/>
              </a:defRPr>
            </a:pPr>
            <a:r>
              <a:t>400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4290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MXN / pole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840480"/>
            <a:ext cx="2743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Structural Premium — Treated Guadua poles for high-end construction. Hotels, villas, eco-luxury projects. Our core product and highest margin.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05840" y="5029200"/>
            <a:ext cx="2743200" cy="320040"/>
          </a:xfrm>
          <a:prstGeom prst="roundRect">
            <a:avLst>
              <a:gd name="adj" fmla="val 5000"/>
            </a:avLst>
          </a:prstGeom>
          <a:solidFill>
            <a:srgbClr val="154A30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50292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DD4A8"/>
                </a:solidFill>
                <a:latin typeface="Calibri"/>
              </a:defRPr>
            </a:pPr>
            <a:r>
              <a:t>Highest margin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2377440"/>
            <a:ext cx="3291840" cy="320040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251460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66666"/>
                </a:solidFill>
                <a:latin typeface="Calibri"/>
              </a:defRPr>
            </a:pPr>
            <a:r>
              <a:t>INDUSTRIAL BAMBOO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8346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Booming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32918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999999"/>
                </a:solidFill>
                <a:latin typeface="Calibri"/>
              </a:defRPr>
            </a:pPr>
            <a:r>
              <a:t>Market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3749039"/>
            <a:ext cx="2743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Straight sticks → furniture, panels, flooring, fencing. The industrial bamboo market is exploding globally. Every culm has value regardless of grade.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0" y="5029200"/>
            <a:ext cx="2743200" cy="320040"/>
          </a:xfrm>
          <a:prstGeom prst="roundRect">
            <a:avLst>
              <a:gd name="adj" fmla="val 5000"/>
            </a:avLst>
          </a:prstGeom>
          <a:solidFill>
            <a:srgbClr val="1A3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54880" y="50292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999999"/>
                </a:solidFill>
                <a:latin typeface="Calibri"/>
              </a:defRPr>
            </a:pPr>
            <a:r>
              <a:t>Growing 15-20% annually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863840" y="2377440"/>
            <a:ext cx="3291840" cy="320040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8160" y="251460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66666"/>
                </a:solidFill>
                <a:latin typeface="Calibri"/>
              </a:defRPr>
            </a:pPr>
            <a:r>
              <a:t>ADDITIONAL STREAMS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28346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Every Part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60" y="32004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999999"/>
                </a:solidFill>
                <a:latin typeface="Calibri"/>
              </a:defRPr>
            </a:pPr>
            <a:r>
              <a:t>Monetized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0" y="3749039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Carbon credits (~$21 USD/ha/yr)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8160" y="4005071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Nursery sales (seedlings)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38160" y="4261103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Charcoal &amp; biochar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38160" y="4517135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Bamboo fiber &amp; textiles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0" y="4773167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Shoots (food industry)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1520" y="5760720"/>
            <a:ext cx="10698480" cy="64008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5806440"/>
            <a:ext cx="10149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CCCCC"/>
                </a:solidFill>
                <a:latin typeface="Calibri"/>
              </a:defRPr>
            </a:pPr>
            <a:r>
              <a:t>Downside protection: Even in our most conservative scenario, bamboo that doesn't meet structural grade still sells into industrial markets at strong margins.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D4A8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No Reliable Supply Chain Exists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99999"/>
                </a:solidFill>
                <a:latin typeface="Calibri"/>
              </a:defRPr>
            </a:pPr>
            <a:r>
              <a:t>US bamboo manufacturers depend on fragmented, uncertified, unreliable supply — mostly from Asia.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468880"/>
            <a:ext cx="5120640" cy="164592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50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6517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06E6E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65176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Fragmented Supply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3063240"/>
            <a:ext cx="4023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Mexican producers are small collectives (under 20 ha each). No single supplier can guarantee volume, consistency, or quality.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468880"/>
            <a:ext cx="5120640" cy="164592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50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6517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06E6E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0" y="265176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No Vertical Integration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0" y="3063240"/>
            <a:ext cx="4023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Nobody controls growing + treatment + distribution. Growers sell raw, untreated poles. Builders source randomly.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389120"/>
            <a:ext cx="5120640" cy="164592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50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5720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06E6E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457200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Zero Export Certification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4983480"/>
            <a:ext cx="4023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No Mexican producer has ICC-ES or ASTM certification. The US market door is closed without it.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4389120"/>
            <a:ext cx="5120640" cy="164592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50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45720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06E6E"/>
                </a:solidFill>
                <a:latin typeface="Calibri"/>
              </a:defRPr>
            </a:pPr>
            <a: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0" y="457200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Asia Dependence = Risk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0" y="4983480"/>
            <a:ext cx="4023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US builders source from China/Vietnam. 30-45 day shipping, tariff uncertainty, ESG concerns. They want nearshore alternatives.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D4A8"/>
                </a:solidFill>
                <a:latin typeface="Calibri"/>
              </a:defRPr>
            </a:pPr>
            <a:r>
              <a:t>COMPETITIVE LANDSCAPE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Mexico's Bamboo Industry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99999"/>
                </a:solidFill>
                <a:latin typeface="Calibri"/>
              </a:defRPr>
            </a:pPr>
            <a:r>
              <a:t>Mostly collectives and micro-companies. Nobody controls the full chain.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3774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Current Players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834640"/>
            <a:ext cx="5029200" cy="59436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880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Guadua Selecto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0896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66666"/>
                </a:solidFill>
                <a:latin typeface="Calibri"/>
              </a:defRPr>
            </a:pPr>
            <a:r>
              <a:t>Chiapas · Grows + sells Guadua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29718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99999"/>
                </a:solidFill>
                <a:latin typeface="Calibri"/>
              </a:defRPr>
            </a:pPr>
            <a:r>
              <a:t>90 ha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520440"/>
            <a:ext cx="5029200" cy="59436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5661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Bambuver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79476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66666"/>
                </a:solidFill>
                <a:latin typeface="Calibri"/>
              </a:defRPr>
            </a:pPr>
            <a:r>
              <a:t>Veracruz · Nursery + tourism + education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6576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99999"/>
                </a:solidFill>
                <a:latin typeface="Calibri"/>
              </a:defRPr>
            </a:pPr>
            <a:r>
              <a:t>Not export-focused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206240"/>
            <a:ext cx="5029200" cy="59436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2519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Grupo Puebla Bambu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48056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66666"/>
                </a:solidFill>
                <a:latin typeface="Calibri"/>
              </a:defRPr>
            </a:pPr>
            <a:r>
              <a:t>Puebla · Cooperative cluster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43434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99999"/>
                </a:solidFill>
                <a:latin typeface="Calibri"/>
              </a:defRPr>
            </a:pPr>
            <a:r>
              <a:t>Fragmented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892040"/>
            <a:ext cx="5029200" cy="59436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9377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Bambuterra / Qincha / Todo de Bambu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16636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66666"/>
                </a:solidFill>
                <a:latin typeface="Calibri"/>
              </a:defRPr>
            </a:pPr>
            <a:r>
              <a:t>Design studios · Don't grow bamboo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1920" y="50292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2DD4A8"/>
                </a:solidFill>
                <a:latin typeface="Calibri"/>
              </a:defRPr>
            </a:pPr>
            <a:r>
              <a:t>Our customers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23774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What They're Missing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2834640"/>
            <a:ext cx="5029200" cy="274320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0" y="30175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99999"/>
                </a:solidFill>
                <a:latin typeface="Calibri"/>
              </a:defRPr>
            </a:pPr>
            <a:r>
              <a:t>✗  Full value chain control (grow → process → sell)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33832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99999"/>
                </a:solidFill>
                <a:latin typeface="Calibri"/>
              </a:defRPr>
            </a:pPr>
            <a:r>
              <a:t>✗  Export certifications (ICC-ES / ASTM)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0" y="37490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99999"/>
                </a:solidFill>
                <a:latin typeface="Calibri"/>
              </a:defRPr>
            </a:pPr>
            <a:r>
              <a:t>✗  Scale for export (100+ ha minimum)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0" y="41148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99999"/>
                </a:solidFill>
                <a:latin typeface="Calibri"/>
              </a:defRPr>
            </a:pPr>
            <a:r>
              <a:t>✗  US market access or buyer relationships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0" y="45262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DD4A8"/>
                </a:solidFill>
                <a:latin typeface="Calibri"/>
              </a:defRPr>
            </a:pPr>
            <a:r>
              <a:t>✓  Pacífico Bambu is building all of this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0" y="5760720"/>
            <a:ext cx="5029200" cy="64008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0" y="580644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Phase 2 strategy: Once we control the value chain, we sell seedlings to local farmers and buy back — creating a supply network we manage.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D4A8"/>
                </a:solidFill>
                <a:latin typeface="Calibri"/>
              </a:defRPr>
            </a:pPr>
            <a:r>
              <a:t>OUR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Vertical Integration at Scale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99999"/>
                </a:solidFill>
                <a:latin typeface="Calibri"/>
              </a:defRPr>
            </a:pPr>
            <a:r>
              <a:t>Grow premium Guadua → treat on-site → sell direct. Control quality, pricing, and the entire value chain.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77440"/>
            <a:ext cx="1828800" cy="82296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42316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DD4A8"/>
                </a:solidFill>
                <a:latin typeface="Calibri"/>
              </a:defRPr>
            </a:pPr>
            <a:r>
              <a:t>GROW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69748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9999"/>
                </a:solidFill>
                <a:latin typeface="Calibri"/>
              </a:defRPr>
            </a:pPr>
            <a:r>
              <a:t>110 ha Guadua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0" y="256032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2DD4A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80360" y="2377440"/>
            <a:ext cx="1828800" cy="82296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17520" y="242316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DD4A8"/>
                </a:solidFill>
                <a:latin typeface="Calibri"/>
              </a:defRPr>
            </a:pPr>
            <a:r>
              <a:t>HARVEST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69748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9999"/>
                </a:solidFill>
                <a:latin typeface="Calibri"/>
              </a:defRPr>
            </a:pPr>
            <a:r>
              <a:t>50 ha own + 60 leased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256032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2DD4A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0" y="2377440"/>
            <a:ext cx="1828800" cy="82296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66360" y="242316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DD4A8"/>
                </a:solidFill>
                <a:latin typeface="Calibri"/>
              </a:defRPr>
            </a:pPr>
            <a:r>
              <a:t>TREAT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6360" y="269748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9999"/>
                </a:solidFill>
                <a:latin typeface="Calibri"/>
              </a:defRPr>
            </a:pPr>
            <a:r>
              <a:t>Per-10ha pools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256032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2DD4A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78040" y="2377440"/>
            <a:ext cx="1828800" cy="82296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0" y="242316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DD4A8"/>
                </a:solidFill>
                <a:latin typeface="Calibri"/>
              </a:defRPr>
            </a:pPr>
            <a:r>
              <a:t>DRY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0" y="269748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9999"/>
                </a:solidFill>
                <a:latin typeface="Calibri"/>
              </a:defRPr>
            </a:pPr>
            <a:r>
              <a:t>Bodega network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06840" y="256032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2DD4A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326880" y="2377440"/>
            <a:ext cx="1828800" cy="82296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64040" y="242316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DD4A8"/>
                </a:solidFill>
                <a:latin typeface="Calibri"/>
              </a:defRPr>
            </a:pPr>
            <a:r>
              <a:t>SELL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64040" y="269748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9999"/>
                </a:solidFill>
                <a:latin typeface="Calibri"/>
              </a:defRPr>
            </a:pPr>
            <a:r>
              <a:t>400 MXN FOB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3474720"/>
            <a:ext cx="5029200" cy="292608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3611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Planting Roadmap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40233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2021 (done)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68880" y="40233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10 ha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23360" y="40233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66666"/>
                </a:solidFill>
                <a:latin typeface="Calibri"/>
              </a:defRPr>
            </a:pPr>
            <a:r>
              <a:t>Established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" y="43891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68880" y="43891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0 ha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23360" y="43891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66666"/>
                </a:solidFill>
                <a:latin typeface="Calibri"/>
              </a:defRPr>
            </a:pPr>
            <a:r>
              <a:t>Clear &amp; prep 20 ha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4754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2027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468880" y="4754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+15 ha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23360" y="4754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66666"/>
                </a:solidFill>
                <a:latin typeface="Calibri"/>
              </a:defRPr>
            </a:pPr>
            <a:r>
              <a:t>First planting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" y="51206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2028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468880" y="51206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+15 ha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23360" y="51206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66666"/>
                </a:solidFill>
                <a:latin typeface="Calibri"/>
              </a:defRPr>
            </a:pPr>
            <a:r>
              <a:t>Scale own land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5840" y="54864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2029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0" y="54864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+10 ha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023360" y="54864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66666"/>
                </a:solidFill>
                <a:latin typeface="Calibri"/>
              </a:defRPr>
            </a:pPr>
            <a:r>
              <a:t>Complete own (50 ha)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5840" y="58521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2030-2031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468880" y="58521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+60 ha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023360" y="58521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66666"/>
                </a:solidFill>
                <a:latin typeface="Calibri"/>
              </a:defRPr>
            </a:pPr>
            <a:r>
              <a:t>LEASED from neighbors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" y="62179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2032+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468880" y="62179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110 ha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23360" y="62179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66666"/>
                </a:solidFill>
                <a:latin typeface="Calibri"/>
              </a:defRPr>
            </a:pPr>
            <a:r>
              <a:t>Full operation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400800" y="3474720"/>
            <a:ext cx="5029200" cy="292608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675120" y="3611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Key Advantages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675120" y="402336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D4A8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040880" y="4023360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40-year land lease + lease-and-replicate model with neighbors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675120" y="461772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D4A8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040880" y="4617720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Own seedling propagation from 2029 — cost drops from 35 → 10 MXN (71% reduction)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675120" y="52120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D4A8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040880" y="5212080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On-site treatment — boric acid/borax cold soak, 10 pools, 30 poles/batch × 7 days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675120" y="580644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D4A8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040880" y="5806440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USMCA duty-free — Mexican-grown bamboo enters US without tariffs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D4A8"/>
                </a:solidFill>
                <a:latin typeface="Calibri"/>
              </a:defRPr>
            </a:pPr>
            <a:r>
              <a:t>PROOF OF CONCEPT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What We Have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99999"/>
                </a:solidFill>
                <a:latin typeface="Calibri"/>
              </a:defRPr>
            </a:pPr>
            <a:r>
              <a:t>We've already cleared the highest-risk phase. 5 years of biological establishment — complete.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77440"/>
            <a:ext cx="3291840" cy="192024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51460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2DD4A8"/>
                </a:solidFill>
                <a:latin typeface="Calibri"/>
              </a:defRPr>
            </a:pPr>
            <a: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1089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Hectares Planted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47472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9999"/>
                </a:solidFill>
                <a:latin typeface="Calibri"/>
              </a:defRPr>
            </a:pPr>
            <a:r>
              <a:t>Since April 2, 2021. 2,000 plants</a:t>
            </a:r>
            <a:br/>
            <a:r>
              <a:t>thriving. Guadua + Oldhamii + Gigante.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2377440"/>
            <a:ext cx="3291840" cy="192024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251460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2DD4A8"/>
                </a:solidFill>
                <a:latin typeface="Calibri"/>
              </a:defRPr>
            </a:pPr>
            <a:r>
              <a:t>110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31089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Active Hectares Plan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47472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9999"/>
                </a:solidFill>
                <a:latin typeface="Calibri"/>
              </a:defRPr>
            </a:pPr>
            <a:r>
              <a:t>50 ha own + 60 ha leased.</a:t>
            </a:r>
            <a:br/>
            <a:r>
              <a:t>Replicable to 200+ ha.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63840" y="2377440"/>
            <a:ext cx="3291840" cy="192024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251460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2DD4A8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31089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Years Established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347472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9999"/>
                </a:solidFill>
                <a:latin typeface="Calibri"/>
              </a:defRPr>
            </a:pPr>
            <a:r>
              <a:t>Past the biological risk phase.</a:t>
            </a:r>
            <a:br/>
            <a:r>
              <a:t>Ready for first commercial harvest.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5720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7091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Infrastructure in Place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507492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✓  Chevrolet 4×4 truck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91840" y="507492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✓  Zapotal work yard + storage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534924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✓  Potable water system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534924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✓  Road access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562356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✓  2 bathrooms on-site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0" y="45720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75120" y="47091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2026 Milestones (In Progress)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0" y="5074920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ACC15"/>
                </a:solidFill>
                <a:latin typeface="Calibri"/>
              </a:defRPr>
            </a:pPr>
            <a:r>
              <a:t>◉  Map &amp; densify existing 10 ha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ACC15"/>
                </a:solidFill>
                <a:latin typeface="Calibri"/>
              </a:defRPr>
            </a:pPr>
            <a:r>
              <a:t>◉  Clear 20 ha for 2027 planting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0" y="5586984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ACC15"/>
                </a:solidFill>
                <a:latin typeface="Calibri"/>
              </a:defRPr>
            </a:pPr>
            <a:r>
              <a:t>◉  First harvest: ~100 poles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0" y="5843016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ACC15"/>
                </a:solidFill>
                <a:latin typeface="Calibri"/>
              </a:defRPr>
            </a:pPr>
            <a:r>
              <a:t>◉  Build first drying bodega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75120" y="6099048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ACC15"/>
                </a:solidFill>
                <a:latin typeface="Calibri"/>
              </a:defRPr>
            </a:pPr>
            <a:r>
              <a:t>◉  Land title regularization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D4A8"/>
                </a:solidFill>
                <a:latin typeface="Calibri"/>
              </a:defRPr>
            </a:pPr>
            <a:r>
              <a:t>GROWTH LEVER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The Lease-and-Replicate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99999"/>
                </a:solidFill>
                <a:latin typeface="Calibri"/>
              </a:defRPr>
            </a:pPr>
            <a:r>
              <a:t>We don't just operate land — we built a system that scales beyond the 110 ha. A blueprint for 200+ ha and beyond.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77440"/>
            <a:ext cx="3474720" cy="219456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514600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D4A8"/>
                </a:solidFill>
                <a:latin typeface="Calibri"/>
              </a:defRPr>
            </a:pPr>
            <a:r>
              <a:t>PHASE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78892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OWN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24612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DD4A8"/>
                </a:solidFill>
                <a:latin typeface="Calibri"/>
              </a:defRPr>
            </a:pPr>
            <a:r>
              <a:t>50 ha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88620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Pacífico Bambu's own land</a:t>
            </a:r>
            <a:br/>
            <a:r>
              <a:t>(within 190 ha lease)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2377440"/>
            <a:ext cx="3474720" cy="219456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514600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0A5FA"/>
                </a:solidFill>
                <a:latin typeface="Calibri"/>
              </a:defRPr>
            </a:pPr>
            <a:r>
              <a:t>PHASE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78892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LEASE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324612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60A5FA"/>
                </a:solidFill>
                <a:latin typeface="Calibri"/>
              </a:defRPr>
            </a:pPr>
            <a:r>
              <a:t>+60 ha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388620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Neighbors' unused land</a:t>
            </a:r>
            <a:br/>
            <a:r>
              <a:t>10% revenue share after expenses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2377440"/>
            <a:ext cx="3474720" cy="219456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FAC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0" y="2514600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ACC15"/>
                </a:solidFill>
                <a:latin typeface="Calibri"/>
              </a:defRPr>
            </a:pPr>
            <a:r>
              <a:t>PHASE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278892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REPLICATE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324612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ACC15"/>
                </a:solidFill>
                <a:latin typeface="Calibri"/>
              </a:defRPr>
            </a:pPr>
            <a:r>
              <a:t>+100 ha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388620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Other locations across Oaxaca</a:t>
            </a:r>
            <a:br/>
            <a:r>
              <a:t>Proven model, low capital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4846320"/>
            <a:ext cx="10698480" cy="164592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493776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Why The Replication Model Works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5303520"/>
            <a:ext cx="2468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DD4A8"/>
                </a:solidFill>
                <a:latin typeface="Calibri"/>
              </a:defRPr>
            </a:pPr>
            <a:r>
              <a:t>CAPITAL EFFICIENT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557784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No land purchase needed. Operations only — small CapEx per new site.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11880" y="5303520"/>
            <a:ext cx="2468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DD4A8"/>
                </a:solidFill>
                <a:latin typeface="Calibri"/>
              </a:defRPr>
            </a:pPr>
            <a:r>
              <a:t>WIN-WIN ECONOMICS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11880" y="557784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Neighbors monetize idle land. We get scale without massive equity raise.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0" y="5303520"/>
            <a:ext cx="2468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DD4A8"/>
                </a:solidFill>
                <a:latin typeface="Calibri"/>
              </a:defRPr>
            </a:pPr>
            <a:r>
              <a:t>RISK DISTRIBUTED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557784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Multiple locations = climate, pest, and operational risk diversified.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23960" y="5303520"/>
            <a:ext cx="2468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DD4A8"/>
                </a:solidFill>
                <a:latin typeface="Calibri"/>
              </a:defRPr>
            </a:pPr>
            <a:r>
              <a:t>PROVEN PLAYBOOK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23960" y="557784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By 2032 we'll have a tested system: workers, pools, bodegas, sales channel.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D4A8"/>
                </a:solidFill>
                <a:latin typeface="Calibri"/>
              </a:defRPr>
            </a:pPr>
            <a:r>
              <a:t>THE 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Built to Execute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99999"/>
                </a:solidFill>
                <a:latin typeface="Calibri"/>
              </a:defRPr>
            </a:pPr>
            <a:r>
              <a:t>Local land expertise + professional bamboo construction + institutional growth capability.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468880"/>
            <a:ext cx="5120640" cy="182880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05840" y="2697480"/>
            <a:ext cx="502920" cy="502920"/>
          </a:xfrm>
          <a:prstGeom prst="ellipse">
            <a:avLst/>
          </a:prstGeom>
          <a:solidFill>
            <a:srgbClr val="1A5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74320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DD4A8"/>
                </a:solidFill>
                <a:latin typeface="Calibri"/>
              </a:defRPr>
            </a:pPr>
            <a:r>
              <a:t>J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697480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Juan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971800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D4A8"/>
                </a:solidFill>
                <a:latin typeface="Calibri"/>
              </a:defRPr>
            </a:pPr>
            <a:r>
              <a:t>Field Operations &amp; Land Manager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383280"/>
            <a:ext cx="4572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Lives in Candelaria. Manages all field operations, workers, planting, harvest, and land preparation. 5 years hands-on bamboo cultivation. Deep local knowledge and community relationships. The land is secured through Juan's 40-year lease.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2468880"/>
            <a:ext cx="5120640" cy="182880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92240" y="2697480"/>
            <a:ext cx="502920" cy="502920"/>
          </a:xfrm>
          <a:prstGeom prst="ellipse">
            <a:avLst/>
          </a:prstGeom>
          <a:solidFill>
            <a:srgbClr val="1A5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74320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DD4A8"/>
                </a:solidFill>
                <a:latin typeface="Calibri"/>
              </a:defRPr>
            </a:pPr>
            <a:r>
              <a:t>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2697480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Diego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2971800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D4A8"/>
                </a:solidFill>
                <a:latin typeface="Calibri"/>
              </a:defRPr>
            </a:pPr>
            <a:r>
              <a:t>Construction, Knowledge &amp; Client Relations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383280"/>
            <a:ext cx="4572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Most experienced team member. Professional bamboo constructor. Builds all structures and treatment infrastructure. Leads treatment protocols, quality control, and client relationships. Manages orders and delivery.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572000"/>
            <a:ext cx="5120640" cy="182880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05840" y="4800600"/>
            <a:ext cx="502920" cy="502920"/>
          </a:xfrm>
          <a:prstGeom prst="ellipse">
            <a:avLst/>
          </a:prstGeom>
          <a:solidFill>
            <a:srgbClr val="1A5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484632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DD4A8"/>
                </a:solidFill>
                <a:latin typeface="Calibri"/>
              </a:defRPr>
            </a:pPr>
            <a:r>
              <a:t>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800600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Ofir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5074920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D4A8"/>
                </a:solidFill>
                <a:latin typeface="Calibri"/>
              </a:defRPr>
            </a:pPr>
            <a:r>
              <a:t>Managing Partner &amp; Head of Growth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5486400"/>
            <a:ext cx="4572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Strategy, finance, fundraising, investor relations, legal, marketing, branding, and certifications. Leads all business operations, financial modeling, and growth strategy. Executes the bridge-to-export roadmap.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4572000"/>
            <a:ext cx="5120640" cy="182880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92240" y="4800600"/>
            <a:ext cx="502920" cy="502920"/>
          </a:xfrm>
          <a:prstGeom prst="ellipse">
            <a:avLst/>
          </a:prstGeom>
          <a:solidFill>
            <a:srgbClr val="1A3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0" y="484632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999999"/>
                </a:solidFill>
                <a:latin typeface="Calibri"/>
              </a:defRPr>
            </a:pPr>
            <a:r>
              <a:t>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0" y="4800600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Rick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32320" y="5074920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Founding Capital Partner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5486400"/>
            <a:ext cx="4572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Cash contributor with 33.33% equity stake. Skin in the game from day one — demonstrating conviction in the long-term thesis before external investors join.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D4A8"/>
                </a:solidFill>
                <a:latin typeface="Calibri"/>
              </a:defRPr>
            </a:pPr>
            <a:r>
              <a:t>FINANCIAL PROJECTIONS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Path to Profitability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99999"/>
                </a:solidFill>
                <a:latin typeface="Calibri"/>
              </a:defRPr>
            </a:pPr>
            <a:r>
              <a:t>CONSERVATIVE BASE: 110 ha at maturity, 1,400 poles/ha mature yield, 400 MXN/pole. Options: 1K / 2K / 3K.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77440"/>
            <a:ext cx="7315200" cy="384048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4688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Revenue Growth (MXN)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88720" y="5552237"/>
            <a:ext cx="548640" cy="25603"/>
          </a:xfrm>
          <a:prstGeom prst="roundRect">
            <a:avLst>
              <a:gd name="adj" fmla="val 15000"/>
            </a:avLst>
          </a:prstGeom>
          <a:solidFill>
            <a:srgbClr val="2D41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5323637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99999"/>
                </a:solidFill>
                <a:latin typeface="Calibri"/>
              </a:defRPr>
            </a:pPr>
            <a:r>
              <a:t>34K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566928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66666"/>
                </a:solidFill>
                <a:latin typeface="Calibri"/>
              </a:defRPr>
            </a:pPr>
            <a:r>
              <a:t>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11680" y="5526634"/>
            <a:ext cx="548640" cy="51206"/>
          </a:xfrm>
          <a:prstGeom prst="roundRect">
            <a:avLst>
              <a:gd name="adj" fmla="val 15000"/>
            </a:avLst>
          </a:prstGeom>
          <a:solidFill>
            <a:srgbClr val="2D42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20240" y="5298034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99999"/>
                </a:solidFill>
                <a:latin typeface="Calibri"/>
              </a:defRPr>
            </a:pPr>
            <a:r>
              <a:t>510K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65960" y="566928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66666"/>
                </a:solidFill>
                <a:latin typeface="Calibri"/>
              </a:defRPr>
            </a:pPr>
            <a:r>
              <a:t>2027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34640" y="5501031"/>
            <a:ext cx="548640" cy="76809"/>
          </a:xfrm>
          <a:prstGeom prst="roundRect">
            <a:avLst>
              <a:gd name="adj" fmla="val 15000"/>
            </a:avLst>
          </a:prstGeom>
          <a:solidFill>
            <a:srgbClr val="2D44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0" y="5272431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99999"/>
                </a:solidFill>
                <a:latin typeface="Calibri"/>
              </a:defRPr>
            </a:pPr>
            <a:r>
              <a:t>680K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566928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66666"/>
                </a:solidFill>
                <a:latin typeface="Calibri"/>
              </a:defRPr>
            </a:pPr>
            <a:r>
              <a:t>2028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0" y="5449824"/>
            <a:ext cx="548640" cy="128016"/>
          </a:xfrm>
          <a:prstGeom prst="roundRect">
            <a:avLst>
              <a:gd name="adj" fmla="val 15000"/>
            </a:avLst>
          </a:prstGeom>
          <a:solidFill>
            <a:srgbClr val="2D47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66160" y="5221224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99999"/>
                </a:solidFill>
                <a:latin typeface="Calibri"/>
              </a:defRPr>
            </a:pPr>
            <a:r>
              <a:t>1M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80" y="566928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66666"/>
                </a:solidFill>
                <a:latin typeface="Calibri"/>
              </a:defRPr>
            </a:pPr>
            <a:r>
              <a:t>2029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80560" y="5424221"/>
            <a:ext cx="548640" cy="153619"/>
          </a:xfrm>
          <a:prstGeom prst="roundRect">
            <a:avLst>
              <a:gd name="adj" fmla="val 15000"/>
            </a:avLst>
          </a:prstGeom>
          <a:solidFill>
            <a:srgbClr val="2D4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89120" y="5195621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2DD4A8"/>
                </a:solidFill>
                <a:latin typeface="Calibri"/>
              </a:defRPr>
            </a:pPr>
            <a:r>
              <a:t>1M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34840" y="566928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2DD4A8"/>
                </a:solidFill>
                <a:latin typeface="Calibri"/>
              </a:defRPr>
            </a:pPr>
            <a:r>
              <a:t>2030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03520" y="5116983"/>
            <a:ext cx="548640" cy="460857"/>
          </a:xfrm>
          <a:prstGeom prst="roundRect">
            <a:avLst>
              <a:gd name="adj" fmla="val 15000"/>
            </a:avLst>
          </a:prstGeom>
          <a:solidFill>
            <a:srgbClr val="2D5A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12080" y="4888383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99999"/>
                </a:solidFill>
                <a:latin typeface="Calibri"/>
              </a:defRPr>
            </a:pPr>
            <a:r>
              <a:t>4M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57800" y="566928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66666"/>
                </a:solidFill>
                <a:latin typeface="Calibri"/>
              </a:defRPr>
            </a:pPr>
            <a:r>
              <a:t>2032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26480" y="4297680"/>
            <a:ext cx="548640" cy="1280160"/>
          </a:xfrm>
          <a:prstGeom prst="roundRect">
            <a:avLst>
              <a:gd name="adj" fmla="val 15000"/>
            </a:avLst>
          </a:prstGeom>
          <a:solidFill>
            <a:srgbClr val="2D89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35040" y="406908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99999"/>
                </a:solidFill>
                <a:latin typeface="Calibri"/>
              </a:defRPr>
            </a:pPr>
            <a:r>
              <a:t>15M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80760" y="566928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66666"/>
                </a:solidFill>
                <a:latin typeface="Calibri"/>
              </a:defRPr>
            </a:pPr>
            <a:r>
              <a:t>2034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949440" y="3017520"/>
            <a:ext cx="548640" cy="2560320"/>
          </a:xfrm>
          <a:prstGeom prst="roundRect">
            <a:avLst>
              <a:gd name="adj" fmla="val 15000"/>
            </a:avLst>
          </a:prstGeom>
          <a:solidFill>
            <a:srgbClr val="2DD4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0" y="278892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99999"/>
                </a:solidFill>
                <a:latin typeface="Calibri"/>
              </a:defRPr>
            </a:pPr>
            <a:r>
              <a:t>52M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03720" y="566928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66666"/>
                </a:solidFill>
                <a:latin typeface="Calibri"/>
              </a:defRPr>
            </a:pPr>
            <a:r>
              <a:t>2038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0" y="2377440"/>
            <a:ext cx="3200400" cy="256032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0" y="24688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Key Milestones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3920" y="288036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2026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35440" y="288036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99999"/>
                </a:solidFill>
                <a:latin typeface="Calibri"/>
              </a:defRPr>
            </a:pPr>
            <a:r>
              <a:t>Pilot · 100 poles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03920" y="320040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2027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35440" y="320040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99999"/>
                </a:solidFill>
                <a:latin typeface="Calibri"/>
              </a:defRPr>
            </a:pPr>
            <a:r>
              <a:t>Ramp · 1,500 poles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03920" y="35204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2031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35440" y="352044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99999"/>
                </a:solidFill>
                <a:latin typeface="Calibri"/>
              </a:defRPr>
            </a:pPr>
            <a:r>
              <a:t>110 ha complete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03920" y="3840479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2033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35440" y="384047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99999"/>
                </a:solidFill>
                <a:latin typeface="Calibri"/>
              </a:defRPr>
            </a:pPr>
            <a:r>
              <a:t>Cash-positive cum.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03920" y="41605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2038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35440" y="416052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99999"/>
                </a:solidFill>
                <a:latin typeface="Calibri"/>
              </a:defRPr>
            </a:pPr>
            <a:r>
              <a:t>Full @ 1,400/ha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03920" y="448056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35440" y="448056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99999"/>
                </a:solidFill>
                <a:latin typeface="Calibri"/>
              </a:defRPr>
            </a:pPr>
            <a:r>
              <a:t>154K poles/year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229600" y="5120640"/>
            <a:ext cx="3200400" cy="109728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503920" y="5166360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DD4A8"/>
                </a:solidFill>
                <a:latin typeface="Calibri"/>
              </a:defRPr>
            </a:pPr>
            <a:r>
              <a:t>CASH-POSITIVE YEAR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53949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DD4A8"/>
                </a:solidFill>
                <a:latin typeface="Calibri"/>
              </a:defRPr>
            </a:pPr>
            <a:r>
              <a:t>2032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03920" y="58521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First profitable year.</a:t>
            </a:r>
            <a:br/>
            <a:r>
              <a:t>Dividends from 2033+.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D4A8"/>
                </a:solidFill>
                <a:latin typeface="Calibri"/>
              </a:defRPr>
            </a:pPr>
            <a:r>
              <a:t>SENSITIVITY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Three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99999"/>
                </a:solidFill>
                <a:latin typeface="Calibri"/>
              </a:defRPr>
            </a:pPr>
            <a:r>
              <a:t>Even at conservative yields, the business is profitable. We model what happens if bamboo produces half of our base case.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77440"/>
            <a:ext cx="3291840" cy="347472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05840" y="2560320"/>
            <a:ext cx="137160" cy="137160"/>
          </a:xfrm>
          <a:prstGeom prst="ellipse">
            <a:avLst/>
          </a:prstGeom>
          <a:solidFill>
            <a:srgbClr val="FACC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25146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ACC15"/>
                </a:solidFill>
                <a:latin typeface="Calibri"/>
              </a:defRPr>
            </a:pPr>
            <a:r>
              <a:t>CONSERVATIVE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8803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1,000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3832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poles/ha at maturity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9319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Revenue 2034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39319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10.6M MXN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2976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Revenue 2038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42976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37M MXN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66344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Break-even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1760" y="46634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2034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5840" y="5303520"/>
            <a:ext cx="2743200" cy="320040"/>
          </a:xfrm>
          <a:prstGeom prst="roundRect">
            <a:avLst>
              <a:gd name="adj" fmla="val 5000"/>
            </a:avLst>
          </a:prstGeom>
          <a:solidFill>
            <a:srgbClr val="152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5303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ACC15"/>
                </a:solidFill>
                <a:latin typeface="Calibri"/>
              </a:defRPr>
            </a:pPr>
            <a:r>
              <a:t>Downside protection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2377440"/>
            <a:ext cx="3291840" cy="347472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572000" y="2560320"/>
            <a:ext cx="137160" cy="137160"/>
          </a:xfrm>
          <a:prstGeom prst="ellipse">
            <a:avLst/>
          </a:prstGeom>
          <a:solidFill>
            <a:srgbClr val="2DD4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00600" y="25146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D4A8"/>
                </a:solidFill>
                <a:latin typeface="Calibri"/>
              </a:defRPr>
            </a:pPr>
            <a:r>
              <a:t>BASE CASE 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28803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2DD4A8"/>
                </a:solidFill>
                <a:latin typeface="Calibri"/>
              </a:defRPr>
            </a:pPr>
            <a:r>
              <a:t>1,400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33832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poles/ha at maturity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39319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Revenue 2034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39319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15M MXN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42976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Revenue 2038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0" y="42976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52M MXN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466344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Break-even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0" y="46634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2033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0" y="5303520"/>
            <a:ext cx="2743200" cy="320040"/>
          </a:xfrm>
          <a:prstGeom prst="roundRect">
            <a:avLst>
              <a:gd name="adj" fmla="val 5000"/>
            </a:avLst>
          </a:prstGeom>
          <a:solidFill>
            <a:srgbClr val="152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0" y="5303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DD4A8"/>
                </a:solidFill>
                <a:latin typeface="Calibri"/>
              </a:defRPr>
            </a:pPr>
            <a:r>
              <a:t>OUR PROJECTION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863840" y="2377440"/>
            <a:ext cx="3291840" cy="347472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138160" y="2560320"/>
            <a:ext cx="137160" cy="137160"/>
          </a:xfrm>
          <a:prstGeom prst="ellipse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66760" y="25146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0A5FA"/>
                </a:solidFill>
                <a:latin typeface="Calibri"/>
              </a:defRPr>
            </a:pPr>
            <a:r>
              <a:t>OPTIMISTIC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0" y="28803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2,000-3,000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38160" y="33832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poles/ha at maturity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38160" y="39319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Revenue 2034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84080" y="39319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21-32M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38160" y="42976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Revenue 2038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84080" y="42976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73-110M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0" y="466344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Break-even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46634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2031-32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138160" y="5303520"/>
            <a:ext cx="2743200" cy="320040"/>
          </a:xfrm>
          <a:prstGeom prst="roundRect">
            <a:avLst>
              <a:gd name="adj" fmla="val 5000"/>
            </a:avLst>
          </a:prstGeom>
          <a:solidFill>
            <a:srgbClr val="152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138160" y="5303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60A5FA"/>
                </a:solidFill>
                <a:latin typeface="Calibri"/>
              </a:defRPr>
            </a:pPr>
            <a:r>
              <a:t>Possible upside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" y="612648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999999"/>
                </a:solidFill>
                <a:latin typeface="Calibri"/>
              </a:defRPr>
            </a:pPr>
            <a:r>
              <a:t>CONSERVATIVE BASE: 1,400 poles/ha (not 2,000). Key assumptions: 400 MXN/pole · 15% waste · 110 ha (50 own + 60 leased). Only yield varies.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D4A8"/>
                </a:solidFill>
                <a:latin typeface="Calibri"/>
              </a:defRPr>
            </a:pPr>
            <a:r>
              <a:t>INVESTMENT OPPORTUNITY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99999"/>
                </a:solidFill>
                <a:latin typeface="Calibri"/>
              </a:defRPr>
            </a:pPr>
            <a:r>
              <a:t>20% equity reserved for investors. First tranche at the highest-risk early valuation.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77440"/>
            <a:ext cx="5303520" cy="402336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514600"/>
            <a:ext cx="4754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D4A8"/>
                </a:solidFill>
                <a:latin typeface="Calibri"/>
              </a:defRPr>
            </a:pPr>
            <a:r>
              <a:t>BRIDGE ROUND — NOW OPEN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83464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Calibri"/>
              </a:defRPr>
            </a:pPr>
            <a:r>
              <a:t>4,000,000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3832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999999"/>
                </a:solidFill>
                <a:latin typeface="Calibri"/>
              </a:defRPr>
            </a:pPr>
            <a:r>
              <a:t>MXN for 14% equity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749039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  <a:latin typeface="Calibri"/>
              </a:defRPr>
            </a:pPr>
            <a:r>
              <a:t>Pre-money: ~24.5M MXN · Post-money: ~28.5M MXN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11480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Use of Funds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480560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4-year runway: ops to end-2029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4480560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Calibri"/>
              </a:defRPr>
            </a:pPr>
            <a:r>
              <a:t>45%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5840" y="4663440"/>
            <a:ext cx="4389120" cy="109728"/>
          </a:xfrm>
          <a:prstGeom prst="roundRect">
            <a:avLst>
              <a:gd name="adj" fmla="val 50000"/>
            </a:avLst>
          </a:prstGeom>
          <a:solidFill>
            <a:srgbClr val="1A3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05840" y="4663440"/>
            <a:ext cx="1975104" cy="109728"/>
          </a:xfrm>
          <a:prstGeom prst="roundRect">
            <a:avLst>
              <a:gd name="adj" fmla="val 50000"/>
            </a:avLst>
          </a:prstGeom>
          <a:solidFill>
            <a:srgbClr val="2DD4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864608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Land prep + planting 50 own 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486460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Calibri"/>
              </a:defRPr>
            </a:pPr>
            <a:r>
              <a:t>25%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5840" y="5047488"/>
            <a:ext cx="4389120" cy="109728"/>
          </a:xfrm>
          <a:prstGeom prst="roundRect">
            <a:avLst>
              <a:gd name="adj" fmla="val 50000"/>
            </a:avLst>
          </a:prstGeom>
          <a:solidFill>
            <a:srgbClr val="1A3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05840" y="5047488"/>
            <a:ext cx="1097280" cy="109728"/>
          </a:xfrm>
          <a:prstGeom prst="roundRect">
            <a:avLst>
              <a:gd name="adj" fmla="val 50000"/>
            </a:avLst>
          </a:prstGeom>
          <a:solidFill>
            <a:srgbClr val="2DA9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248656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Mgmt salaries (start 2027)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5248656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Calibri"/>
              </a:defRPr>
            </a:pPr>
            <a:r>
              <a:t>20%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5840" y="5431536"/>
            <a:ext cx="4389120" cy="109728"/>
          </a:xfrm>
          <a:prstGeom prst="roundRect">
            <a:avLst>
              <a:gd name="adj" fmla="val 50000"/>
            </a:avLst>
          </a:prstGeom>
          <a:solidFill>
            <a:srgbClr val="1A3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005840" y="5431536"/>
            <a:ext cx="877824" cy="109728"/>
          </a:xfrm>
          <a:prstGeom prst="roundRect">
            <a:avLst>
              <a:gd name="adj" fmla="val 50000"/>
            </a:avLst>
          </a:prstGeom>
          <a:solidFill>
            <a:srgbClr val="2D7F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5632704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Bodegas, pools, infrastructure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5632704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Calibri"/>
              </a:defRPr>
            </a:pPr>
            <a:r>
              <a:t>10%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5840" y="5815584"/>
            <a:ext cx="4389120" cy="109728"/>
          </a:xfrm>
          <a:prstGeom prst="roundRect">
            <a:avLst>
              <a:gd name="adj" fmla="val 50000"/>
            </a:avLst>
          </a:prstGeom>
          <a:solidFill>
            <a:srgbClr val="1A3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05840" y="5815584"/>
            <a:ext cx="438912" cy="109728"/>
          </a:xfrm>
          <a:prstGeom prst="roundRect">
            <a:avLst>
              <a:gd name="adj" fmla="val 50000"/>
            </a:avLst>
          </a:prstGeom>
          <a:solidFill>
            <a:srgbClr val="2D54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583680" y="2377440"/>
            <a:ext cx="4846320" cy="228600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0" y="2514600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Equity Allocation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0" y="292608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Founding partners (3)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326880" y="2926080"/>
            <a:ext cx="2194560" cy="182880"/>
          </a:xfrm>
          <a:prstGeom prst="roundRect">
            <a:avLst>
              <a:gd name="adj" fmla="val 50000"/>
            </a:avLst>
          </a:prstGeom>
          <a:solidFill>
            <a:srgbClr val="2DD4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612880" y="2907792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Calibri"/>
              </a:defRPr>
            </a:pPr>
            <a:r>
              <a:t>60%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0" y="338328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Investors total (R1+R2)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326880" y="3383280"/>
            <a:ext cx="731520" cy="182880"/>
          </a:xfrm>
          <a:prstGeom prst="roundRect">
            <a:avLst>
              <a:gd name="adj" fmla="val 50000"/>
            </a:avLst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49840" y="3364992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Calibri"/>
              </a:defRPr>
            </a:pPr>
            <a:r>
              <a:t>20%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0" y="384048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Managing Partner (vested)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326880" y="3840480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FACC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966960" y="3822192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Calibri"/>
              </a:defRPr>
            </a:pPr>
            <a:r>
              <a:t>15%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0" y="429768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Strategic reserve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326880" y="4297680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601200" y="4279392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Calibri"/>
              </a:defRPr>
            </a:pPr>
            <a:r>
              <a:t>5%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0" y="4206240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66666"/>
                </a:solidFill>
                <a:latin typeface="Calibri"/>
              </a:defRPr>
            </a:pPr>
            <a:r>
              <a:t>Bridge investor takes 14% — the largest piece. Funds 2026-2029 operations completely. Round 2 (Seed) closes 2028 at significantly higher valuation.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0" y="4846320"/>
            <a:ext cx="4846320" cy="155448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858000" y="4983480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Why This Valuation Is Low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0" y="5303520"/>
            <a:ext cx="4297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You're entering before the risk phase is resolved. Once we prove production at scale and begin US export certification, the next round will reflect a fundamentally different risk profile — and a much higher valuation.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858000" y="5943600"/>
            <a:ext cx="4297680" cy="32004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858000" y="5943600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DD4A8"/>
                </a:solidFill>
                <a:latin typeface="Calibri"/>
              </a:defRPr>
            </a:pPr>
            <a:r>
              <a:t>Early entry = highest return potential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D4A8"/>
                </a:solidFill>
                <a:latin typeface="Calibri"/>
              </a:defRPr>
            </a:pPr>
            <a:r>
              <a:t>FUTURE GROWTH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Round 2: The Seed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99999"/>
                </a:solidFill>
                <a:latin typeface="Calibri"/>
              </a:defRPr>
            </a:pPr>
            <a:r>
              <a:t>Smaller, lower-risk round in 2028 — funds the path to break-even at higher valuation.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77440"/>
            <a:ext cx="5303520" cy="384048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514600"/>
            <a:ext cx="4754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D4A8"/>
                </a:solidFill>
                <a:latin typeface="Calibri"/>
              </a:defRPr>
            </a:pPr>
            <a:r>
              <a:t>ROUND 2 — SEED (Q3 2028)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926080"/>
            <a:ext cx="4754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alibri"/>
              </a:defRPr>
            </a:pPr>
            <a:r>
              <a:t>2,500,000 MXN for ~6%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8404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DD4A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84048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Funds 2030-2032 operations until break-even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25196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DD4A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25196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Lower risk: 2 years of production data + leased land model proven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66344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DD4A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66344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Pre-money: ~39M MXN — significant uplift from Round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7492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DD4A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507492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Profile: Agri-fund, Family Office, Impact Investor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0" y="2377440"/>
            <a:ext cx="4846320" cy="210312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0" y="2514600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Why Wait for the Next Round?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292608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D4A8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0" y="292608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Round 1 funds 4 full years (2026-2029) — no rush for Round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0" y="342900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D4A8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342900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By 2028 we have 1.02M MXN revenue + 25 ha producing — proven traction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393192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D4A8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393192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Smaller raise = less dilution; founders keep more equity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0" y="4663440"/>
            <a:ext cx="4846320" cy="155448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0" y="4800600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Valuation Trajectory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51663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Round 1 (2026)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0" y="516636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28.5M MXN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0" y="54864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Round 2 (2028)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0" y="548640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2DD4A8"/>
                </a:solidFill>
                <a:latin typeface="Calibri"/>
              </a:defRPr>
            </a:pPr>
            <a:r>
              <a:t>~41.5M MXN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58000" y="5852160"/>
            <a:ext cx="4297680" cy="27432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0" y="5852160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2DD4A8"/>
                </a:solidFill>
                <a:latin typeface="Calibri"/>
              </a:defRPr>
            </a:pPr>
            <a:r>
              <a:t>Round 1 enters at lowest valuation = highest upside potential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D4A8"/>
                </a:solidFill>
                <a:latin typeface="Calibri"/>
              </a:defRPr>
            </a:pPr>
            <a:r>
              <a:t>MILESTONE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De-Risk, Then Scale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99999"/>
                </a:solidFill>
                <a:latin typeface="Calibri"/>
              </a:defRPr>
            </a:pPr>
            <a:r>
              <a:t>Every milestone is verifiable. Money deploys against proven gates, not promises.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77440"/>
            <a:ext cx="10698480" cy="73152"/>
          </a:xfrm>
          <a:prstGeom prst="roundRect">
            <a:avLst/>
          </a:prstGeom>
          <a:solidFill>
            <a:srgbClr val="1A4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58368" y="2304288"/>
            <a:ext cx="201168" cy="201168"/>
          </a:xfrm>
          <a:prstGeom prst="ellipse">
            <a:avLst/>
          </a:prstGeom>
          <a:solidFill>
            <a:srgbClr val="2DD4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2560320"/>
            <a:ext cx="868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66666"/>
                </a:solidFill>
                <a:latin typeface="Calibri"/>
              </a:defRPr>
            </a:pPr>
            <a:r>
              <a:t>2026</a:t>
            </a:r>
          </a:p>
        </p:txBody>
      </p:sp>
      <p:sp>
        <p:nvSpPr>
          <p:cNvPr id="8" name="Oval 7"/>
          <p:cNvSpPr/>
          <p:nvPr/>
        </p:nvSpPr>
        <p:spPr>
          <a:xfrm>
            <a:off x="2370124" y="2304288"/>
            <a:ext cx="201168" cy="201168"/>
          </a:xfrm>
          <a:prstGeom prst="ellipse">
            <a:avLst/>
          </a:prstGeom>
          <a:solidFill>
            <a:srgbClr val="2DB8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77516" y="2560320"/>
            <a:ext cx="868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66666"/>
                </a:solidFill>
                <a:latin typeface="Calibri"/>
              </a:defRPr>
            </a:pPr>
            <a:r>
              <a:t>2027</a:t>
            </a:r>
          </a:p>
        </p:txBody>
      </p:sp>
      <p:sp>
        <p:nvSpPr>
          <p:cNvPr id="10" name="Oval 9"/>
          <p:cNvSpPr/>
          <p:nvPr/>
        </p:nvSpPr>
        <p:spPr>
          <a:xfrm>
            <a:off x="4188866" y="2304288"/>
            <a:ext cx="201168" cy="201168"/>
          </a:xfrm>
          <a:prstGeom prst="ellipse">
            <a:avLst/>
          </a:prstGeom>
          <a:solidFill>
            <a:srgbClr val="2D9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96258" y="2560320"/>
            <a:ext cx="868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66666"/>
                </a:solidFill>
                <a:latin typeface="Calibri"/>
              </a:defRPr>
            </a:pPr>
            <a:r>
              <a:t>2028</a:t>
            </a:r>
          </a:p>
        </p:txBody>
      </p:sp>
      <p:sp>
        <p:nvSpPr>
          <p:cNvPr id="12" name="Oval 11"/>
          <p:cNvSpPr/>
          <p:nvPr/>
        </p:nvSpPr>
        <p:spPr>
          <a:xfrm>
            <a:off x="6007608" y="2304288"/>
            <a:ext cx="201168" cy="201168"/>
          </a:xfrm>
          <a:prstGeom prst="ellipse">
            <a:avLst/>
          </a:prstGeom>
          <a:solidFill>
            <a:srgbClr val="2D7F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15000" y="2560320"/>
            <a:ext cx="868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66666"/>
                </a:solidFill>
                <a:latin typeface="Calibri"/>
              </a:defRPr>
            </a:pPr>
            <a:r>
              <a:t>2030</a:t>
            </a:r>
          </a:p>
        </p:txBody>
      </p:sp>
      <p:sp>
        <p:nvSpPr>
          <p:cNvPr id="14" name="Oval 13"/>
          <p:cNvSpPr/>
          <p:nvPr/>
        </p:nvSpPr>
        <p:spPr>
          <a:xfrm>
            <a:off x="7719364" y="2304288"/>
            <a:ext cx="201168" cy="201168"/>
          </a:xfrm>
          <a:prstGeom prst="ellipse">
            <a:avLst/>
          </a:prstGeom>
          <a:solidFill>
            <a:srgbClr val="2D6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26756" y="2560320"/>
            <a:ext cx="868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66666"/>
                </a:solidFill>
                <a:latin typeface="Calibri"/>
              </a:defRPr>
            </a:pPr>
            <a:r>
              <a:t>2032</a:t>
            </a:r>
          </a:p>
        </p:txBody>
      </p:sp>
      <p:sp>
        <p:nvSpPr>
          <p:cNvPr id="16" name="Oval 15"/>
          <p:cNvSpPr/>
          <p:nvPr/>
        </p:nvSpPr>
        <p:spPr>
          <a:xfrm>
            <a:off x="9538106" y="2304288"/>
            <a:ext cx="201168" cy="201168"/>
          </a:xfrm>
          <a:prstGeom prst="ellipse">
            <a:avLst/>
          </a:prstGeom>
          <a:solidFill>
            <a:srgbClr val="2D47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45498" y="2560320"/>
            <a:ext cx="868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66666"/>
                </a:solidFill>
                <a:latin typeface="Calibri"/>
              </a:defRPr>
            </a:pPr>
            <a:r>
              <a:t>2034</a:t>
            </a:r>
          </a:p>
        </p:txBody>
      </p:sp>
      <p:sp>
        <p:nvSpPr>
          <p:cNvPr id="18" name="Oval 17"/>
          <p:cNvSpPr/>
          <p:nvPr/>
        </p:nvSpPr>
        <p:spPr>
          <a:xfrm>
            <a:off x="11356848" y="2304288"/>
            <a:ext cx="201168" cy="201168"/>
          </a:xfrm>
          <a:prstGeom prst="ellipse">
            <a:avLst/>
          </a:prstGeom>
          <a:solidFill>
            <a:srgbClr val="2D2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064240" y="2560320"/>
            <a:ext cx="868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66666"/>
                </a:solidFill>
                <a:latin typeface="Calibri"/>
              </a:defRPr>
            </a:pPr>
            <a:r>
              <a:t>2038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2926080"/>
            <a:ext cx="5120640" cy="109728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3017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D4A8"/>
                </a:solidFill>
                <a:latin typeface="Calibri"/>
              </a:defRPr>
            </a:pPr>
            <a:r>
              <a:t>2026 — FOUNDATION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3337560"/>
            <a:ext cx="4572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Deploy 4M Bridge. Densify 10 ha. Clear 20 ha for 2027. Build first drying bodega. First harvest: 100 poles. Land title regularization.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2926080"/>
            <a:ext cx="5120640" cy="109728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0" y="3017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D4A8"/>
                </a:solidFill>
                <a:latin typeface="Calibri"/>
              </a:defRPr>
            </a:pPr>
            <a:r>
              <a:t>2027-2029 — SCALE OWN LAND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337560"/>
            <a:ext cx="4572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Plant 50 ha across 3 years (15+15+10). Build pools as needed. Revenue grows 510K → 1.7M MXN. Mgmt salaries start at 20K/month.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4160520"/>
            <a:ext cx="5120640" cy="109728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5840" y="42519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D4A8"/>
                </a:solidFill>
                <a:latin typeface="Calibri"/>
              </a:defRPr>
            </a:pPr>
            <a:r>
              <a:t>2028 — ROUND 2 SEED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4572000"/>
            <a:ext cx="4572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Close 2.5M Seed at higher valuation (~41.5M post). 2 years of production data. 25 ha already planted. Funds next 4 years.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17920" y="4160520"/>
            <a:ext cx="5120640" cy="109728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0" y="42519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999999"/>
                </a:solidFill>
                <a:latin typeface="Calibri"/>
              </a:defRPr>
            </a:pPr>
            <a:r>
              <a:t>2030-2031 — LEASE EXPANSION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4572000"/>
            <a:ext cx="4572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Activate replication model: lease 60 ha from neighbors. 10% revenue share to landowners after expenses. 110 ha total active.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1520" y="5394960"/>
            <a:ext cx="5120640" cy="109728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5840" y="54864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999999"/>
                </a:solidFill>
                <a:latin typeface="Calibri"/>
              </a:defRPr>
            </a:pPr>
            <a:r>
              <a:t>2032 — CASH-POSITIVE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840" y="5806440"/>
            <a:ext cx="4572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First profitable year. 4.1M MXN revenue. Vehicle purchases begin. Dividends planning starts.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17920" y="5394960"/>
            <a:ext cx="5120640" cy="109728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92240" y="54864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66666"/>
                </a:solidFill>
                <a:latin typeface="Calibri"/>
              </a:defRPr>
            </a:pPr>
            <a:r>
              <a:t>2033-2038 — FULL MATURITY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92240" y="5806440"/>
            <a:ext cx="4572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All 110 ha producing. Revenue scales to 52M MXN (at 1,400/ha base). Big bodega 2034. ICC-ES 2037.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400" b="1">
                <a:solidFill>
                  <a:srgbClr val="2DD4A8"/>
                </a:solidFill>
                <a:latin typeface="Calibri"/>
              </a:defRPr>
            </a:pPr>
            <a:r>
              <a:t>110 ha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154,000 poles/year at full maturity · Replicable to 200+ ha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999999"/>
                </a:solidFill>
                <a:latin typeface="Calibri"/>
              </a:defRPr>
            </a:pPr>
            <a:r>
              <a:t>Mexico's first certified Guadua bamboo exporter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65760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Calibri"/>
              </a:defRPr>
            </a:pPr>
            <a:r>
              <a:t>Hours from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88620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Salina Cruz 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3749039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1A4A30"/>
                </a:solidFill>
                <a:latin typeface="Calibri"/>
              </a:defRPr>
            </a:pPr>
            <a:r>
              <a:t>|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365760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Calibri"/>
              </a:defRPr>
            </a:pPr>
            <a:r>
              <a:t>Duty-free via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388620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USMCA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3749039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1A4A30"/>
                </a:solidFill>
                <a:latin typeface="Calibri"/>
              </a:defRPr>
            </a:pPr>
            <a:r>
              <a:t>|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365760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Calibri"/>
              </a:defRPr>
            </a:pPr>
            <a:r>
              <a:t>40-year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388620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Land Lease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3749039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1A4A30"/>
                </a:solidFill>
                <a:latin typeface="Calibri"/>
              </a:defRPr>
            </a:pPr>
            <a:r>
              <a:t>|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52559" y="365760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Calibri"/>
              </a:defRPr>
            </a:pPr>
            <a:r>
              <a:t>Zero waste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52559" y="388620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7548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Pacífico Bambu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3949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2DD4A8"/>
                </a:solidFill>
                <a:latin typeface="Calibri"/>
              </a:defRPr>
            </a:pPr>
            <a:r>
              <a:t>The bamboo supply chain from Mexico to the US — built right.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03504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  <a:latin typeface="Calibri"/>
              </a:defRPr>
            </a:pPr>
            <a:r>
              <a:t>El Azulillo, Candelaria, Oaxaca, Mexico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63093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  <a:latin typeface="Calibri"/>
              </a:defRPr>
            </a:pPr>
            <a:r>
              <a:t>contact@pacificobambu.com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