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Pacifico Bambu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880360"/>
            <a:ext cx="2103120" cy="5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E8F5E9"/>
                </a:solidFill>
                <a:latin typeface="Arial"/>
              </a:defRPr>
            </a:pPr>
            <a:r>
              <a:t>Premium Guadua Bamboo for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t>Oaxaca, Mexico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57575"/>
                </a:solidFill>
                <a:latin typeface="Arial"/>
              </a:defRPr>
            </a:pPr>
            <a:r>
              <a:t>Investor Presentation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97280" cy="5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•  Global bamboo market: ~$72B USD (2025), CAGR 5.6%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•  US engineered bamboo market: $10-12B USD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•  Mexico bamboo market: ~$550M USD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•  Mexico to US bamboo exports: $345.7M (97% to US) -- currently dominated by edible shoots, NOT structural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•  Gap: No ICC-ES certified Guadua supplier from Mexico exists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•  USMCA trade advantages (nearshoring trend)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57575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97280" cy="5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 US needs reliable, certified structural bamboo -- current supply from Colombia/Asia is expensive and slow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 Mexico has ideal climate for Guadua but no scaled, certified plantation exists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 Bamboo requires 5-7 years to mature -- first-mover advantage is critical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 Logistics cost = 50% of revenue for whole poles -- need primary processing on-site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57575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97280" cy="5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•  190 ha Guadua plantation (40-year lease secured)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•  On-site treatment (boric acid/borax cold soak) -- sell treated poles FOB farm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•  10 ha already planted (April 2021) -- 5 years of establishment complete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•  First harvest: 2027 (from base 10 ha)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•  2026: Clear &amp; prepare 20 ha. First new planting: 2027. Full 190 ha by 2033.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•  Own seedling propagation from 2029 (cost drops from 35 to 10 MXN/seedling)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57575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  <a:latin typeface="Arial"/>
              </a:defRPr>
            </a:pPr>
            <a:r>
              <a:t>Revenue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97280" cy="5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2011680"/>
                <a:gridCol w="2560320"/>
                <a:gridCol w="2560320"/>
              </a:tblGrid>
              <a:tr h="386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</a:t>
                      </a:r>
                    </a:p>
                  </a:txBody>
                  <a:tcPr marL="76200" marR="76200" marT="50800" marB="50800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Cumulative Ha</a:t>
                      </a:r>
                    </a:p>
                  </a:txBody>
                  <a:tcPr marL="76200" marR="76200" marT="50800" marB="50800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Net Poles</a:t>
                      </a:r>
                    </a:p>
                  </a:txBody>
                  <a:tcPr marL="76200" marR="76200" marT="50800" marB="50800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Revenue (MXN)</a:t>
                      </a:r>
                    </a:p>
                  </a:txBody>
                  <a:tcPr marL="76200" marR="76200" marT="50800" marB="50800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Revenue (USD)</a:t>
                      </a:r>
                    </a:p>
                  </a:txBody>
                  <a:tcPr marL="76200" marR="76200" marT="50800" marB="50800">
                    <a:solidFill>
                      <a:srgbClr val="1B5E20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2026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850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340,000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20,000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2027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30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2,550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1,020,000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60,000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2028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55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5,100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2,040,000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120,000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2029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80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10,200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4,080,000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240,000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2030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15,300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6,120,000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360,000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2031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145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23,800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9,520,000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560,000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2032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180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42,925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17,170,000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1,010,000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2036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190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229,925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91,970,000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5,410,000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757575"/>
                </a:solidFill>
                <a:latin typeface="Arial"/>
              </a:rPr>
              <a:t>Pole price = 400 MXN FOB farm (post-treatment).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757575"/>
                </a:solidFill>
                <a:latin typeface="Arial"/>
              </a:rPr>
              <a:t>Yield: 500 (yr 5) / 1,000 (yr 6) / 2,000 (yr 7+) poles/ha.  15% waste factor applied.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57575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Revenue Streams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97280" cy="5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5E9"/>
                </a:solidFill>
                <a:latin typeface="Arial"/>
              </a:defRPr>
            </a:pPr>
            <a:r>
              <a:t>Three pillars of revenue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00400" cy="4114800"/>
          </a:xfrm>
          <a:prstGeom prst="roundRect">
            <a:avLst/>
          </a:prstGeom>
          <a:solidFill>
            <a:srgbClr val="1A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Arial"/>
              </a:defRPr>
            </a:pPr>
            <a:r>
              <a:t>1. Treated Poles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57575"/>
                </a:solidFill>
                <a:latin typeface="Arial"/>
              </a:defRPr>
            </a:pPr>
            <a:r>
              <a:t>PRIMARY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400 MXN/pole, FOB farm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Post boric acid/borax treatment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Target: architects, hotels, restaurants, furniture makers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Starting Oaxaca, expanding nationally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US export from ~2034 with ICC-ES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011680"/>
            <a:ext cx="3200400" cy="4114800"/>
          </a:xfrm>
          <a:prstGeom prst="roundRect">
            <a:avLst/>
          </a:prstGeom>
          <a:solidFill>
            <a:srgbClr val="1A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194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Arial"/>
              </a:defRPr>
            </a:pPr>
            <a:r>
              <a:t>2. Carbon Credits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060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57575"/>
                </a:solidFill>
                <a:latin typeface="Arial"/>
              </a:defRPr>
            </a:pPr>
            <a:r>
              <a:t>SUPPLEMENTARY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0175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Verra / Gold Standard certified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~$21 USD/ha/year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Starting ~2029 (18-month registration)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Growing with planted area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Additional income stream at scale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011680"/>
            <a:ext cx="3200400" cy="4114800"/>
          </a:xfrm>
          <a:prstGeom prst="roundRect">
            <a:avLst/>
          </a:prstGeom>
          <a:solidFill>
            <a:srgbClr val="1A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2194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Arial"/>
              </a:defRPr>
            </a:pPr>
            <a:r>
              <a:t>3. Nursery Sales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6060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57575"/>
                </a:solidFill>
                <a:latin typeface="Arial"/>
              </a:defRPr>
            </a:pPr>
            <a:r>
              <a:t>FROM 2029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30175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Own baby bamboo seedlings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15 MXN/unit external sales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Internal use reduces planting cost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Cost drops: 35 to 10 MXN/seedling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 Supports expansion &amp; generates cash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57575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  <a:latin typeface="Arial"/>
              </a:defRPr>
            </a:pPr>
            <a:r>
              <a:t>Use of Funds -- Bridge 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97280" cy="5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  <a:latin typeface="Arial"/>
              </a:defRPr>
            </a:pPr>
            <a:r>
              <a:t>5,000,000 MXN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7315200" cy="355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37%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03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Salaries (3 partners + 2 workers, 9 mo)  --  1,620,000 MXN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5985163" cy="3556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306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Treatment pools (10 small pools)  --  1,300,000 MXN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34640"/>
            <a:ext cx="2216727" cy="355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11%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8092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Road improvements  --  500,000 MXN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37560"/>
            <a:ext cx="2216727" cy="3556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11%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3121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SG&amp;A  --  500,000 MXN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1551709" cy="355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815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Nursery infrastructure  --  300,000 MXN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343400"/>
            <a:ext cx="1330036" cy="3556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318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Marketing + certifications  --  130,000 MXN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846320"/>
            <a:ext cx="1108363" cy="355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14%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20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Reserve  --  610,000 MXN  (seedlings purchased Q1 2027 from this reserve)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-10000000" y="5349240"/>
            <a:ext cx="665018" cy="3556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10000000" y="53238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Marketing + certifications  --  130,000 MXN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57575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  <a:latin typeface="Arial"/>
              </a:defRPr>
            </a:pPr>
            <a:r>
              <a:t>Path to Profitability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97280" cy="5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Arial"/>
              </a:defRPr>
            </a:pPr>
            <a:r>
              <a:t>Cash-positive by 2030 with bridge + major round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2011680"/>
                <a:gridCol w="2560320"/>
                <a:gridCol w="256032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</a:t>
                      </a:r>
                    </a:p>
                  </a:txBody>
                  <a:tcPr marL="76200" marR="76200" marT="50800" marB="50800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Revenue</a:t>
                      </a:r>
                    </a:p>
                  </a:txBody>
                  <a:tcPr marL="76200" marR="76200" marT="50800" marB="50800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Expenses</a:t>
                      </a:r>
                    </a:p>
                  </a:txBody>
                  <a:tcPr marL="76200" marR="76200" marT="50800" marB="50800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Funding</a:t>
                      </a:r>
                    </a:p>
                  </a:txBody>
                  <a:tcPr marL="76200" marR="76200" marT="50800" marB="50800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Cumulative Cash</a:t>
                      </a:r>
                    </a:p>
                  </a:txBody>
                  <a:tcPr marL="76200" marR="76200" marT="50800" marB="50800">
                    <a:solidFill>
                      <a:srgbClr val="1B5E2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2026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340K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545K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5,000K (bridge)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+4,795K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2027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1,020K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3,364K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--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+2,451K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2028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2,040K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4,155K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18,000K (major)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+18,336K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2029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4,080K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4,597K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--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+17,819K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2030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6,120K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5,315K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--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+18,624K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Arial"/>
              </a:defRPr>
            </a:pPr>
            <a:r>
              <a:t>2030: Cash positive from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Arial"/>
              </a:defRPr>
            </a:pPr>
            <a:r>
              <a:t>Without major round, cash depletes mid-2029 -- validates timing of 2028 raise.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57575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Funding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97280" cy="5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5E9"/>
                </a:solidFill>
                <a:latin typeface="Arial"/>
              </a:defRPr>
            </a:pPr>
            <a:r>
              <a:t>Two-stage raise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Round</a:t>
                      </a:r>
                    </a:p>
                  </a:txBody>
                  <a:tcPr marL="76200" marR="76200" marT="50800" marB="50800">
                    <a:solidFill>
                      <a:srgbClr val="1A4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(MXN)</a:t>
                      </a:r>
                    </a:p>
                  </a:txBody>
                  <a:tcPr marL="76200" marR="76200" marT="50800" marB="50800">
                    <a:solidFill>
                      <a:srgbClr val="1A4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Equity</a:t>
                      </a:r>
                    </a:p>
                  </a:txBody>
                  <a:tcPr marL="76200" marR="76200" marT="50800" marB="50800">
                    <a:solidFill>
                      <a:srgbClr val="1A4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Pre-Money Valuation</a:t>
                      </a:r>
                    </a:p>
                  </a:txBody>
                  <a:tcPr marL="76200" marR="76200" marT="50800" marB="50800">
                    <a:solidFill>
                      <a:srgbClr val="1A4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Bridge (2026)</a:t>
                      </a:r>
                    </a:p>
                  </a:txBody>
                  <a:tcPr marL="76200" marR="76200" marT="50800" marB="50800">
                    <a:solidFill>
                      <a:srgbClr val="265C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5,000,000</a:t>
                      </a:r>
                    </a:p>
                  </a:txBody>
                  <a:tcPr marL="76200" marR="76200" marT="50800" marB="50800">
                    <a:solidFill>
                      <a:srgbClr val="265C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6.5%</a:t>
                      </a:r>
                    </a:p>
                  </a:txBody>
                  <a:tcPr marL="76200" marR="76200" marT="50800" marB="50800">
                    <a:solidFill>
                      <a:srgbClr val="265C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35.96M MXN</a:t>
                      </a:r>
                    </a:p>
                  </a:txBody>
                  <a:tcPr marL="76200" marR="76200" marT="50800" marB="50800">
                    <a:solidFill>
                      <a:srgbClr val="265C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Major (2028)</a:t>
                      </a:r>
                    </a:p>
                  </a:txBody>
                  <a:tcPr marL="76200" marR="76200" marT="50800" marB="50800">
                    <a:solidFill>
                      <a:srgbClr val="1E501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~18,000,000</a:t>
                      </a:r>
                    </a:p>
                  </a:txBody>
                  <a:tcPr marL="76200" marR="76200" marT="50800" marB="50800">
                    <a:solidFill>
                      <a:srgbClr val="1E501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18.5%</a:t>
                      </a:r>
                    </a:p>
                  </a:txBody>
                  <a:tcPr marL="76200" marR="76200" marT="50800" marB="50800">
                    <a:solidFill>
                      <a:srgbClr val="1E501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99.12M MXN</a:t>
                      </a:r>
                    </a:p>
                  </a:txBody>
                  <a:tcPr marL="76200" marR="76200" marT="50800" marB="50800">
                    <a:solidFill>
                      <a:srgbClr val="1E50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76200" marR="76200" marT="50800" marB="50800">
                    <a:solidFill>
                      <a:srgbClr val="265C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23,000,000</a:t>
                      </a:r>
                    </a:p>
                  </a:txBody>
                  <a:tcPr marL="76200" marR="76200" marT="50800" marB="50800">
                    <a:solidFill>
                      <a:srgbClr val="265C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25%</a:t>
                      </a:r>
                    </a:p>
                  </a:txBody>
                  <a:tcPr marL="76200" marR="76200" marT="50800" marB="50800">
                    <a:solidFill>
                      <a:srgbClr val="265C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</a:p>
                  </a:txBody>
                  <a:tcPr marL="76200" marR="76200" marT="50800" marB="50800">
                    <a:solidFill>
                      <a:srgbClr val="265C2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Arial"/>
              </a:defRPr>
            </a:pPr>
            <a:r>
              <a:t>Post-Funding Ownership: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448056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Stakeholder</a:t>
                      </a:r>
                    </a:p>
                  </a:txBody>
                  <a:tcPr marL="76200" marR="76200" marT="50800" marB="50800">
                    <a:solidFill>
                      <a:srgbClr val="1A4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Equity</a:t>
                      </a:r>
                    </a:p>
                  </a:txBody>
                  <a:tcPr marL="76200" marR="76200" marT="50800" marB="50800">
                    <a:solidFill>
                      <a:srgbClr val="1A4A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Existing 3 Partners (20% each)</a:t>
                      </a:r>
                    </a:p>
                  </a:txBody>
                  <a:tcPr marL="76200" marR="76200" marT="50800" marB="50800">
                    <a:solidFill>
                      <a:srgbClr val="265C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60%</a:t>
                      </a:r>
                    </a:p>
                  </a:txBody>
                  <a:tcPr marL="76200" marR="76200" marT="50800" marB="50800">
                    <a:solidFill>
                      <a:srgbClr val="265C2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Ofir (Managing Partner)</a:t>
                      </a:r>
                    </a:p>
                  </a:txBody>
                  <a:tcPr marL="76200" marR="76200" marT="50800" marB="50800">
                    <a:solidFill>
                      <a:srgbClr val="1E501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15%</a:t>
                      </a:r>
                    </a:p>
                  </a:txBody>
                  <a:tcPr marL="76200" marR="76200" marT="50800" marB="50800">
                    <a:solidFill>
                      <a:srgbClr val="1E501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Major Investor</a:t>
                      </a:r>
                    </a:p>
                  </a:txBody>
                  <a:tcPr marL="76200" marR="76200" marT="50800" marB="50800">
                    <a:solidFill>
                      <a:srgbClr val="265C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18.5%</a:t>
                      </a:r>
                    </a:p>
                  </a:txBody>
                  <a:tcPr marL="76200" marR="76200" marT="50800" marB="50800">
                    <a:solidFill>
                      <a:srgbClr val="265C2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Bridge Investor</a:t>
                      </a:r>
                    </a:p>
                  </a:txBody>
                  <a:tcPr marL="76200" marR="76200" marT="50800" marB="50800">
                    <a:solidFill>
                      <a:srgbClr val="1E501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6.5%</a:t>
                      </a:r>
                    </a:p>
                  </a:txBody>
                  <a:tcPr marL="76200" marR="76200" marT="50800" marB="50800">
                    <a:solidFill>
                      <a:srgbClr val="1E501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57575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Competitive Moat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97280" cy="5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2011680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600" b="1">
                <a:solidFill>
                  <a:srgbClr val="1B5E2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4CAF50"/>
                </a:solidFill>
                <a:latin typeface="Arial"/>
              </a:rPr>
              <a:t>First mover:  </a:t>
            </a:r>
            <a:r>
              <a:rPr sz="1700">
                <a:solidFill>
                  <a:srgbClr val="FFFFFF"/>
                </a:solidFill>
                <a:latin typeface="Arial"/>
              </a:rPr>
              <a:t>No ICC-ES certified Guadua supplier from Mexico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743200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600" b="1">
                <a:solidFill>
                  <a:srgbClr val="1B5E2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4CAF50"/>
                </a:solidFill>
                <a:latin typeface="Arial"/>
              </a:rPr>
              <a:t>5-7 year biological barrier:  </a:t>
            </a:r>
            <a:r>
              <a:rPr sz="1700">
                <a:solidFill>
                  <a:srgbClr val="FFFFFF"/>
                </a:solidFill>
                <a:latin typeface="Arial"/>
              </a:rPr>
              <a:t>Bamboo takes years to mature -- competitors cannot catch up quickly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600" b="1">
                <a:solidFill>
                  <a:srgbClr val="1B5E2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74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4CAF50"/>
                </a:solidFill>
                <a:latin typeface="Arial"/>
              </a:rPr>
              <a:t>USMCA proximity:  </a:t>
            </a:r>
            <a:r>
              <a:rPr sz="1700">
                <a:solidFill>
                  <a:srgbClr val="FFFFFF"/>
                </a:solidFill>
                <a:latin typeface="Arial"/>
              </a:rPr>
              <a:t>Nearshoring advantage vs Colombia/Asia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206240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600" b="1">
                <a:solidFill>
                  <a:srgbClr val="1B5E2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06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4CAF50"/>
                </a:solidFill>
                <a:latin typeface="Arial"/>
              </a:rPr>
              <a:t>40-year land lease:  </a:t>
            </a:r>
            <a:r>
              <a:rPr sz="1700">
                <a:solidFill>
                  <a:srgbClr val="FFFFFF"/>
                </a:solidFill>
                <a:latin typeface="Arial"/>
              </a:rPr>
              <a:t>Long-term security at El Azulillo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937760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600" b="1">
                <a:solidFill>
                  <a:srgbClr val="1B5E2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937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4CAF50"/>
                </a:solidFill>
                <a:latin typeface="Arial"/>
              </a:rPr>
              <a:t>Vertical integration:  </a:t>
            </a:r>
            <a:r>
              <a:rPr sz="1700">
                <a:solidFill>
                  <a:srgbClr val="FFFFFF"/>
                </a:solidFill>
                <a:latin typeface="Arial"/>
              </a:rPr>
              <a:t>From seedling propagation to treatment to sale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669280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600" b="1">
                <a:solidFill>
                  <a:srgbClr val="1B5E2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69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4CAF50"/>
                </a:solidFill>
                <a:latin typeface="Arial"/>
              </a:rPr>
              <a:t>Certifications path:  </a:t>
            </a:r>
            <a:r>
              <a:rPr sz="1700">
                <a:solidFill>
                  <a:srgbClr val="FFFFFF"/>
                </a:solidFill>
                <a:latin typeface="Arial"/>
              </a:rPr>
              <a:t>FSC (2027) &gt; ASTM &gt; ICC-ES (2031-2034) = cumulative 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57575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97280" cy="5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Name</a:t>
                      </a:r>
                    </a:p>
                  </a:txBody>
                  <a:tcPr marL="76200" marR="76200" marT="50800" marB="50800">
                    <a:solidFill>
                      <a:srgbClr val="1A4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Role</a:t>
                      </a:r>
                    </a:p>
                  </a:txBody>
                  <a:tcPr marL="76200" marR="76200" marT="50800" marB="50800">
                    <a:solidFill>
                      <a:srgbClr val="1A4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Strength</a:t>
                      </a:r>
                    </a:p>
                  </a:txBody>
                  <a:tcPr marL="76200" marR="76200" marT="50800" marB="50800">
                    <a:solidFill>
                      <a:srgbClr val="1A4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Juan</a:t>
                      </a:r>
                    </a:p>
                  </a:txBody>
                  <a:tcPr marL="76200" marR="76200" marT="50800" marB="50800">
                    <a:solidFill>
                      <a:srgbClr val="265C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 Manager (on-site daily)</a:t>
                      </a:r>
                    </a:p>
                  </a:txBody>
                  <a:tcPr marL="76200" marR="76200" marT="50800" marB="50800">
                    <a:solidFill>
                      <a:srgbClr val="265C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Lives in Candelaria, manages all field operations &amp; workers</a:t>
                      </a:r>
                    </a:p>
                  </a:txBody>
                  <a:tcPr marL="76200" marR="76200" marT="50800" marB="50800">
                    <a:solidFill>
                      <a:srgbClr val="265C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Diego</a:t>
                      </a:r>
                    </a:p>
                  </a:txBody>
                  <a:tcPr marL="76200" marR="76200" marT="50800" marB="50800">
                    <a:solidFill>
                      <a:srgbClr val="1E501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Construction &amp; Knowledge Lead</a:t>
                      </a:r>
                    </a:p>
                  </a:txBody>
                  <a:tcPr marL="76200" marR="76200" marT="50800" marB="50800">
                    <a:solidFill>
                      <a:srgbClr val="1E501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Most experienced, bamboo constructor, industry connections</a:t>
                      </a:r>
                    </a:p>
                  </a:txBody>
                  <a:tcPr marL="76200" marR="76200" marT="50800" marB="50800">
                    <a:solidFill>
                      <a:srgbClr val="1E50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Ofir</a:t>
                      </a:r>
                    </a:p>
                  </a:txBody>
                  <a:tcPr marL="76200" marR="76200" marT="50800" marB="50800">
                    <a:solidFill>
                      <a:srgbClr val="265C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Managing Partner &amp; Head of Growth</a:t>
                      </a:r>
                    </a:p>
                  </a:txBody>
                  <a:tcPr marL="76200" marR="76200" marT="50800" marB="50800">
                    <a:solidFill>
                      <a:srgbClr val="265C2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Strategy, finance, fundraising, marketing, operations</a:t>
                      </a:r>
                    </a:p>
                  </a:txBody>
                  <a:tcPr marL="76200" marR="76200" marT="50800" marB="50800">
                    <a:solidFill>
                      <a:srgbClr val="265C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Rick</a:t>
                      </a:r>
                    </a:p>
                  </a:txBody>
                  <a:tcPr marL="76200" marR="76200" marT="50800" marB="50800">
                    <a:solidFill>
                      <a:srgbClr val="1E501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Financial Partner</a:t>
                      </a:r>
                    </a:p>
                  </a:txBody>
                  <a:tcPr marL="76200" marR="76200" marT="50800" marB="50800">
                    <a:solidFill>
                      <a:srgbClr val="1E501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Cash contributor, financial oversight</a:t>
                      </a:r>
                    </a:p>
                  </a:txBody>
                  <a:tcPr marL="76200" marR="76200" marT="50800" marB="50800">
                    <a:solidFill>
                      <a:srgbClr val="1E501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57575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  <a:latin typeface="Arial"/>
              </a:defRPr>
            </a:pPr>
            <a:r>
              <a:t>Milestones &amp;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97280" cy="5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49780" y="1666240"/>
            <a:ext cx="38100" cy="502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98980" y="151384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E7D32"/>
                </a:solidFill>
                <a:latin typeface="Arial"/>
              </a:defRPr>
            </a:pPr>
            <a:r>
              <a:t>Apr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4630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Arial"/>
              </a:defRPr>
            </a:pPr>
            <a:r>
              <a:t>Map existing 10 ha + deploy bridge funding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049780" y="2169160"/>
            <a:ext cx="38100" cy="502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98980" y="201676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65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E7D32"/>
                </a:solidFill>
                <a:latin typeface="Arial"/>
              </a:defRPr>
            </a:pPr>
            <a:r>
              <a:t>Sep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659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Arial"/>
              </a:defRPr>
            </a:pPr>
            <a:r>
              <a:t>20 ha cleared &amp; prepped for 2027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49780" y="2672080"/>
            <a:ext cx="38100" cy="502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98980" y="251968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468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E7D32"/>
                </a:solidFill>
                <a:latin typeface="Arial"/>
              </a:defRPr>
            </a:pPr>
            <a:r>
              <a:t>Oct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4688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Arial"/>
              </a:defRPr>
            </a:pPr>
            <a:r>
              <a:t>Land title complete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49780" y="3175000"/>
            <a:ext cx="38100" cy="502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998980" y="302260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971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E7D32"/>
                </a:solidFill>
                <a:latin typeface="Arial"/>
              </a:defRPr>
            </a:pPr>
            <a:r>
              <a:t>Dec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9718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Arial"/>
              </a:defRPr>
            </a:pPr>
            <a:r>
              <a:t>First sales (340K MXN)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49780" y="3677920"/>
            <a:ext cx="38100" cy="502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98980" y="352552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474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E7D32"/>
                </a:solidFill>
                <a:latin typeface="Arial"/>
              </a:defRPr>
            </a:pPr>
            <a:r>
              <a:t>Jun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4747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Arial"/>
              </a:defRPr>
            </a:pPr>
            <a:r>
              <a:t>FSC certified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49780" y="4180840"/>
            <a:ext cx="38100" cy="502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98980" y="402844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E7D32"/>
                </a:solidFill>
                <a:latin typeface="Arial"/>
              </a:defRPr>
            </a:pPr>
            <a:r>
              <a:t>Aug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39776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Arial"/>
              </a:defRPr>
            </a:pPr>
            <a:r>
              <a:t>20 ha planted (30 cumulative) -- FIRST NEW PLANTING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49780" y="4683760"/>
            <a:ext cx="38100" cy="502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98980" y="4531360"/>
            <a:ext cx="152400" cy="152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480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E7D32"/>
                </a:solidFill>
                <a:latin typeface="Arial"/>
              </a:defRPr>
            </a:pPr>
            <a:r>
              <a:t>H1 2028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44805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Arial"/>
              </a:defRPr>
            </a:pPr>
            <a:r>
              <a:t>Close major round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49780" y="5186680"/>
            <a:ext cx="38100" cy="502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998980" y="5034280"/>
            <a:ext cx="152400" cy="152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983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E7D32"/>
                </a:solidFill>
                <a:latin typeface="Arial"/>
              </a:defRPr>
            </a:pPr>
            <a:r>
              <a:t>2029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49834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Arial"/>
              </a:defRPr>
            </a:pPr>
            <a:r>
              <a:t>First carbon credits (Verra)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49780" y="5689600"/>
            <a:ext cx="38100" cy="502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98980" y="5537200"/>
            <a:ext cx="152400" cy="152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4864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E7D32"/>
                </a:solidFill>
                <a:latin typeface="Arial"/>
              </a:defRPr>
            </a:pPr>
            <a:r>
              <a:t>2030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54864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Arial"/>
              </a:defRPr>
            </a:pPr>
            <a:r>
              <a:t>Cash-positive year</a:t>
            </a:r>
          </a:p>
        </p:txBody>
      </p:sp>
      <p:sp>
        <p:nvSpPr>
          <p:cNvPr id="40" name="Oval 39"/>
          <p:cNvSpPr/>
          <p:nvPr/>
        </p:nvSpPr>
        <p:spPr>
          <a:xfrm>
            <a:off x="-10000000" y="6040120"/>
            <a:ext cx="152400" cy="152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989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E7D32"/>
                </a:solidFill>
                <a:latin typeface="Arial"/>
              </a:defRPr>
            </a:pPr>
            <a:r>
              <a:t>2033-34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59893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Arial"/>
              </a:defRPr>
            </a:pPr>
            <a:r>
              <a:t>190 ha fully planted | ICC-ES certified / first US export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57575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  <a:latin typeface="Arial"/>
              </a:defRPr>
            </a:pPr>
            <a:r>
              <a:t>Risk Factors &amp;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97280" cy="5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68580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76200" marR="76200" marT="50800" marB="50800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76200" marR="76200" marT="50800" marB="50800">
                    <a:solidFill>
                      <a:srgbClr val="1B5E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Biological gestation (5-7 yr)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 ha already at 5 years; proven planting since 2021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Cash runway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Two-stage funding; bridge then major validates with data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Land title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Regularization budgeted &amp; in process (38-45K MXN)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Market demand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400 MXN/pole competitive vs imported Colombian Guadua (350-600 MXN)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Scale requirement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190 ha plan reaches 100+ ha export threshold by 2030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Certification timeline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Sequential: FSC &gt; ASTM &gt; ICC-ES, starting 2026</a:t>
                      </a:r>
                    </a:p>
                  </a:txBody>
                  <a:tcPr marL="76200" marR="76200" marT="50800" marB="50800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57575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97280" cy="5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515600" cy="1371600"/>
          </a:xfrm>
          <a:prstGeom prst="roundRect">
            <a:avLst/>
          </a:prstGeom>
          <a:solidFill>
            <a:srgbClr val="1A4A1A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rial"/>
              </a:defRPr>
            </a:pPr>
            <a:r>
              <a:t>Bridge Round:  5,000,000 MXN  for  6.5% equity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8F5E9"/>
                </a:solidFill>
                <a:latin typeface="Arial"/>
              </a:defRPr>
            </a:pPr>
            <a:r>
              <a:t>Pre-money valuation: 35.96M MXN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•  Use of funds:</a:t>
            </a:r>
            <a:r>
              <a:rPr sz="1800" b="0">
                <a:solidFill>
                  <a:srgbClr val="FFFFFF"/>
                </a:solidFill>
                <a:latin typeface="Arial"/>
              </a:rPr>
              <a:t>  Clear 20 ha, build treatment infrastructure, first sales, certifications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•  Bridge investors get:</a:t>
            </a:r>
            <a:r>
              <a:rPr sz="1800" b="0">
                <a:solidFill>
                  <a:srgbClr val="FFFFFF"/>
                </a:solidFill>
                <a:latin typeface="Arial"/>
              </a:rPr>
              <a:t> lower valuation entry, operational milestones before major round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•  Next:</a:t>
            </a:r>
            <a:r>
              <a:rPr sz="1800" b="0">
                <a:solidFill>
                  <a:srgbClr val="FFFFFF"/>
                </a:solidFill>
                <a:latin typeface="Arial"/>
              </a:rPr>
              <a:t> Major round in H1 2028 (~18M MXN) at 3x uplift 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57575"/>
                </a:solidFill>
                <a:latin typeface="Arial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Pacifico Bambu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468880"/>
            <a:ext cx="2103120" cy="5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8F5E9"/>
                </a:solidFill>
                <a:latin typeface="Arial"/>
              </a:defRPr>
            </a:pPr>
            <a:r>
              <a:t>El Azulillo, Candelaria, Oaxaca, Mexico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t>Building Mexico's first certified Guadua bamboo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57575"/>
                </a:solidFill>
                <a:latin typeface="Arial"/>
              </a:defRPr>
            </a:pPr>
            <a:r>
              <a:t>[Contact email / phone placeholder]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CAF50"/>
                </a:solidFill>
                <a:latin typeface="Arial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